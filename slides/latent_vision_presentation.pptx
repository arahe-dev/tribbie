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1fb7bf7-3d3c-b520-e3de-48652792f8ae}">
          <p14:sldIdLst>
            <p14:sldId id="256"/>
            <p14:sldId id="257"/>
          </p14:sldIdLst>
        </p14:section>
        <p14:section name="System" id="{d1086241-f5cf-71e6-6d89-c676f76b76ad}">
          <p14:sldIdLst>
            <p14:sldId id="258"/>
            <p14:sldId id="259"/>
            <p14:sldId id="260"/>
          </p14:sldIdLst>
        </p14:section>
        <p14:section name="Method" id="{32d87b2e-a1d8-33f8-b4f3-7937cd4ff2fc}">
          <p14:sldIdLst>
            <p14:sldId id="261"/>
            <p14:sldId id="262"/>
          </p14:sldIdLst>
        </p14:section>
        <p14:section name="Results" id="{20e78c46-83a2-a4de-570a-a28b77de1150}">
          <p14:sldIdLst>
            <p14:sldId id="263"/>
            <p14:sldId id="264"/>
            <p14:sldId id="265"/>
            <p14:sldId id="266"/>
            <p14:sldId id="267"/>
            <p14:sldId id="268"/>
            <p14:sldId id="269"/>
            <p14:sldId id="270"/>
            <p14:sldId id="271"/>
          </p14:sldIdLst>
        </p14:section>
        <p14:section name="Conclusion" id="{26f510de-7799-0640-f49b-620cb888f5b3}">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138"/>
                </a:solidFill>
                <a:latin typeface="+mn-lt"/>
              </a:defRPr>
            </a:pPr>
            <a:r>
              <a:rPr sz="1400" b="0" i="0" u="none" strike="noStrike">
                <a:solidFill>
                  <a:srgbClr val="2B3138"/>
                </a:solidFill>
                <a:latin typeface="+mn-lt"/>
              </a:rPr>
              <a:t>mean gate weight per skill (%)</a:t>
            </a:r>
          </a:p>
        </c:rich>
      </c:tx>
      <c:layout/>
      <c:overlay val="0"/>
    </c:title>
    <c:autoTitleDeleted val="0"/>
    <c:plotArea>
      <c:layout/>
      <c:barChart>
        <c:barDir val="col"/>
        <c:grouping val="stacked"/>
        <c:varyColors val="0"/>
        <c:ser>
          <c:idx val="0"/>
          <c:order val="0"/>
          <c:tx>
            <c:strRef>
              <c:f>Sheet1!$B$1</c:f>
              <c:strCache>
                <c:ptCount val="1"/>
                <c:pt idx="0">
                  <c:v>expert 1</c:v>
                </c:pt>
              </c:strCache>
            </c:strRef>
          </c:tx>
          <c:spPr>
            <a:solidFill>
              <a:srgbClr val="8A8F98"/>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goto</c:v>
                  </c:pt>
                  <c:pt idx="1">
                    <c:v>pick</c:v>
                  </c:pt>
                  <c:pt idx="2">
                    <c:v>drop</c:v>
                  </c:pt>
                </c:lvl>
              </c:multiLvlStrCache>
            </c:multiLvlStrRef>
          </c:cat>
          <c:val>
            <c:numRef>
              <c:f>Sheet1!$B$2:$B$4</c:f>
              <c:numCache>
                <c:formatCode>General</c:formatCode>
                <c:ptCount val="3"/>
                <c:pt idx="0">
                  <c:v>0.6</c:v>
                </c:pt>
                <c:pt idx="1">
                  <c:v>61.8</c:v>
                </c:pt>
                <c:pt idx="2">
                  <c:v>25.6</c:v>
                </c:pt>
              </c:numCache>
            </c:numRef>
          </c:val>
        </c:ser>
        <c:ser>
          <c:idx val="1"/>
          <c:order val="1"/>
          <c:tx>
            <c:strRef>
              <c:f>Sheet1!$C$1</c:f>
              <c:strCache>
                <c:ptCount val="1"/>
                <c:pt idx="0">
                  <c:v>expert 2</c:v>
                </c:pt>
              </c:strCache>
            </c:strRef>
          </c:tx>
          <c:spPr>
            <a:solidFill>
              <a:srgbClr val="2F6DB5"/>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goto</c:v>
                  </c:pt>
                  <c:pt idx="1">
                    <c:v>pick</c:v>
                  </c:pt>
                  <c:pt idx="2">
                    <c:v>drop</c:v>
                  </c:pt>
                </c:lvl>
              </c:multiLvlStrCache>
            </c:multiLvlStrRef>
          </c:cat>
          <c:val>
            <c:numRef>
              <c:f>Sheet1!$C$2:$C$4</c:f>
              <c:numCache>
                <c:formatCode>General</c:formatCode>
                <c:ptCount val="3"/>
                <c:pt idx="0">
                  <c:v>37.7</c:v>
                </c:pt>
                <c:pt idx="1">
                  <c:v>12.9</c:v>
                </c:pt>
                <c:pt idx="2">
                  <c:v>5.4</c:v>
                </c:pt>
              </c:numCache>
            </c:numRef>
          </c:val>
        </c:ser>
        <c:ser>
          <c:idx val="2"/>
          <c:order val="2"/>
          <c:tx>
            <c:strRef>
              <c:f>Sheet1!$D$1</c:f>
              <c:strCache>
                <c:ptCount val="1"/>
                <c:pt idx="0">
                  <c:v>expert 3</c:v>
                </c:pt>
              </c:strCache>
            </c:strRef>
          </c:tx>
          <c:spPr>
            <a:solidFill>
              <a:srgbClr val="E07B28"/>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goto</c:v>
                  </c:pt>
                  <c:pt idx="1">
                    <c:v>pick</c:v>
                  </c:pt>
                  <c:pt idx="2">
                    <c:v>drop</c:v>
                  </c:pt>
                </c:lvl>
              </c:multiLvlStrCache>
            </c:multiLvlStrRef>
          </c:cat>
          <c:val>
            <c:numRef>
              <c:f>Sheet1!$D$2:$D$4</c:f>
              <c:numCache>
                <c:formatCode>General</c:formatCode>
                <c:ptCount val="3"/>
                <c:pt idx="0">
                  <c:v>18.9</c:v>
                </c:pt>
                <c:pt idx="1">
                  <c:v>19</c:v>
                </c:pt>
                <c:pt idx="2">
                  <c:v>66.3</c:v>
                </c:pt>
              </c:numCache>
            </c:numRef>
          </c:val>
        </c:ser>
        <c:ser>
          <c:idx val="3"/>
          <c:order val="3"/>
          <c:tx>
            <c:strRef>
              <c:f>Sheet1!$E$1</c:f>
              <c:strCache>
                <c:ptCount val="1"/>
                <c:pt idx="0">
                  <c:v>expert 4</c:v>
                </c:pt>
              </c:strCache>
            </c:strRef>
          </c:tx>
          <c:spPr>
            <a:solidFill>
              <a:srgbClr val="3A9A5B"/>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goto</c:v>
                  </c:pt>
                  <c:pt idx="1">
                    <c:v>pick</c:v>
                  </c:pt>
                  <c:pt idx="2">
                    <c:v>drop</c:v>
                  </c:pt>
                </c:lvl>
              </c:multiLvlStrCache>
            </c:multiLvlStrRef>
          </c:cat>
          <c:val>
            <c:numRef>
              <c:f>Sheet1!$E$2:$E$4</c:f>
              <c:numCache>
                <c:formatCode>General</c:formatCode>
                <c:ptCount val="3"/>
                <c:pt idx="0">
                  <c:v>42.9</c:v>
                </c:pt>
                <c:pt idx="1">
                  <c:v>6.3</c:v>
                </c:pt>
                <c:pt idx="2">
                  <c:v>2.7</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3138"/>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31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138"/>
                </a:solidFill>
                <a:latin typeface="+mn-lt"/>
              </a:defRPr>
            </a:pPr>
            <a:r>
              <a:rPr sz="1400" b="0" i="0" u="none" strike="noStrike">
                <a:solidFill>
                  <a:srgbClr val="2B3138"/>
                </a:solidFill>
                <a:latin typeface="+mn-lt"/>
              </a:rPr>
              <a:t>held-out phase accuracy (%), mean of 3 seeds</a:t>
            </a:r>
          </a:p>
        </c:rich>
      </c:tx>
      <c:layout/>
      <c:overlay val="0"/>
    </c:title>
    <c:autoTitleDeleted val="0"/>
    <c:plotArea>
      <c:layout/>
      <c:barChart>
        <c:barDir val="bar"/>
        <c:grouping val="clustered"/>
        <c:varyColors val="0"/>
        <c:ser>
          <c:idx val="0"/>
          <c:order val="0"/>
          <c:tx>
            <c:strRef>
              <c:f>Sheet1!$B$1</c:f>
              <c:strCache>
                <c:ptCount val="1"/>
                <c:pt idx="0">
                  <c:v>phase accuracy</c:v>
                </c:pt>
              </c:strCache>
            </c:strRef>
          </c:tx>
          <c:spPr>
            <a:solidFill>
              <a:srgbClr val="2F6DB5"/>
            </a:solidFill>
            <a:effectLst/>
          </c:spPr>
          <c:invertIfNegative val="0"/>
          <c:dLbls>
            <c:numFmt formatCode="0.0" sourceLinked="0"/>
            <c:txPr>
              <a:bodyPr/>
              <a:lstStyle/>
              <a:p>
                <a:pPr>
                  <a:defRPr b="0" i="0" strike="noStrike" sz="1200" u="none">
                    <a:solidFill>
                      <a:srgbClr val="2B3138"/>
                    </a:solidFill>
                    <a:latin typeface="+mn-lt"/>
                  </a:defRPr>
                </a:pPr>
              </a:p>
            </c:txPr>
            <c:showLegendKey val="0"/>
            <c:showVal val="1"/>
            <c:showCatName val="0"/>
            <c:showSerName val="0"/>
            <c:showPercent val="0"/>
            <c:showBubbleSize val="0"/>
            <c:showLeaderLines val="0"/>
          </c:dLbls>
          <c:cat>
            <c:multiLvlStrRef>
              <c:f>Sheet1!$A$2:$A$6</c:f>
              <c:multiLvlStrCache>
                <c:ptCount val="5"/>
                <c:lvl>
                  <c:pt idx="0">
                    <c:v>both cameras, 16-D</c:v>
                  </c:pt>
                  <c:pt idx="1">
                    <c:v>head only, 16-D</c:v>
                  </c:pt>
                  <c:pt idx="2">
                    <c:v>wrist only, 16-D</c:v>
                  </c:pt>
                  <c:pt idx="3">
                    <c:v>both, 4-D</c:v>
                  </c:pt>
                  <c:pt idx="4">
                    <c:v>both, 64-D</c:v>
                  </c:pt>
                </c:lvl>
              </c:multiLvlStrCache>
            </c:multiLvlStrRef>
          </c:cat>
          <c:val>
            <c:numRef>
              <c:f>Sheet1!$B$2:$B$6</c:f>
              <c:numCache>
                <c:formatCode>General</c:formatCode>
                <c:ptCount val="5"/>
                <c:pt idx="0">
                  <c:v>92.5</c:v>
                </c:pt>
                <c:pt idx="1">
                  <c:v>82.5</c:v>
                </c:pt>
                <c:pt idx="2">
                  <c:v>93.5</c:v>
                </c:pt>
                <c:pt idx="3">
                  <c:v>85.3</c:v>
                </c:pt>
                <c:pt idx="4">
                  <c:v>97</c:v>
                </c:pt>
              </c:numCache>
            </c:numRef>
          </c:val>
        </c:ser>
        <c:dLbls>
          <c:numFmt formatCode="0.0" sourceLinked="0"/>
          <c:txPr>
            <a:bodyPr/>
            <a:lstStyle/>
            <a:p>
              <a:pPr>
                <a:defRPr b="0" i="0" strike="noStrike" sz="1200" u="none">
                  <a:solidFill>
                    <a:srgbClr val="2B31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3138"/>
                </a:solidFill>
                <a:latin typeface="+mn-lt"/>
              </a:defRPr>
            </a:pPr>
            <a:endParaRPr lang="en-US"/>
          </a:p>
        </c:txPr>
        <c:crossAx val="2094734552"/>
        <c:crosses val="autoZero"/>
        <c:auto val="1"/>
        <c:lblAlgn val="ctr"/>
        <c:noMultiLvlLbl val="1"/>
      </c:catAx>
      <c:valAx>
        <c:axId val="2094734552"/>
        <c:scaling>
          <c:orientation val="minMax"/>
          <c:max val="100"/>
          <c:min val="7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of the talk: how much visual information does a robot policy need if everything it sees is squeezed into 16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7665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977640"/>
            <a:ext cx="6583680" cy="1463040"/>
          </a:xfrm>
          <a:prstGeom prst="rect">
            <a:avLst/>
          </a:prstGeom>
          <a:noFill/>
          <a:ln/>
        </p:spPr>
        <p:txBody>
          <a:bodyPr wrap="square" rtlCol="0"/>
          <a:lstStyle>
            <a:lvl1pPr indent="0" marL="0">
              <a:buNone/>
              <a:defRPr lang="en-US" sz="1800" dirty="0">
                <a:solidFill>
                  <a:srgbClr val="C9CFD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video" Target="../media/media-19-1.mp4"/><Relationship Id="rId2" Type="http://schemas.microsoft.com/office/2007/relationships/media" Target="../media/media-19-1.mp4"/><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C:\Users\mirai\latent_robot_demo\results\vlm_states\state03_overview.png">    </p:cNvPr>
          <p:cNvPicPr>
            <a:picLocks noChangeAspect="1"/>
          </p:cNvPicPr>
          <p:nvPr/>
        </p:nvPicPr>
        <p:blipFill>
          <a:blip r:embed="rId1"/>
          <a:srcRect l="0" r="0" t="0" b="0"/>
          <a:stretch/>
        </p:blipFill>
        <p:spPr>
          <a:xfrm>
            <a:off x="7223760" y="0"/>
            <a:ext cx="4965192" cy="6858000"/>
          </a:xfrm>
          <a:prstGeom prst="rect">
            <a:avLst/>
          </a:prstGeom>
        </p:spPr>
      </p:pic>
      <p:sp>
        <p:nvSpPr>
          <p:cNvPr id="3" name="Text 0"/>
          <p:cNvSpPr/>
          <p:nvPr>
            <p:ph idx="100" type="title" hasCustomPrompt="1"/>
          </p:nvPr>
        </p:nvSpPr>
        <p:spPr>
          <a:xfrm>
            <a:off x="640080" y="2103120"/>
            <a:ext cx="6766560" cy="1737360"/>
          </a:xfrm>
          <a:prstGeom prst="rect">
            <a:avLst/>
          </a:prstGeom>
          <a:noFill/>
          <a:ln/>
        </p:spPr>
        <p:txBody>
          <a:bodyPr wrap="square" rtlCol="0" anchor="b"/>
          <a:lstStyle/>
          <a:p>
            <a:pPr algn="l" indent="0" marL="0">
              <a:buNone/>
            </a:pPr>
            <a:r>
              <a:rPr lang="en-US" sz="4000" b="1" dirty="0">
                <a:solidFill>
                  <a:schemeClr val="bg1"/>
                </a:solidFill>
              </a:rPr>
              <a:t>How Small Can a Robot's Eyes Be?</a:t>
            </a:r>
            <a:endParaRPr lang="en-US" sz="4000" dirty="0"/>
          </a:p>
        </p:txBody>
      </p:sp>
      <p:sp>
        <p:nvSpPr>
          <p:cNvPr id="4" name="Text 0"/>
          <p:cNvSpPr/>
          <p:nvPr>
            <p:ph idx="101" type="body" hasCustomPrompt="1"/>
          </p:nvPr>
        </p:nvSpPr>
        <p:spPr>
          <a:xfrm>
            <a:off x="640080" y="3977640"/>
            <a:ext cx="6583680" cy="1463040"/>
          </a:xfrm>
          <a:prstGeom prst="rect">
            <a:avLst/>
          </a:prstGeom>
          <a:noFill/>
          <a:ln/>
        </p:spPr>
        <p:txBody>
          <a:bodyPr wrap="square" rtlCol="0" anchor="t"/>
          <a:lstStyle/>
          <a:p>
            <a:pPr indent="0" marL="0">
              <a:buNone/>
            </a:pPr>
            <a:r>
              <a:rPr lang="en-US" sz="1800" dirty="0">
                <a:solidFill>
                  <a:srgbClr val="C9CFD6"/>
                </a:solidFill>
              </a:rPr>
              <a:t>Compact latent visual policies and a vision-language programmer for camera-only mobile manipulation</a:t>
            </a:r>
            <a:endParaRPr lang="en-US" sz="1800" dirty="0"/>
          </a:p>
        </p:txBody>
      </p:sp>
      <p:sp>
        <p:nvSpPr>
          <p:cNvPr id="5" name="Text 2"/>
          <p:cNvSpPr txBox="1"/>
          <p:nvPr/>
        </p:nvSpPr>
        <p:spPr>
          <a:xfrm>
            <a:off x="640080" y="5989320"/>
            <a:ext cx="6400800" cy="365760"/>
          </a:xfrm>
          <a:prstGeom prst="rect">
            <a:avLst/>
          </a:prstGeom>
          <a:noFill/>
          <a:ln/>
        </p:spPr>
        <p:txBody>
          <a:bodyPr wrap="square" lIns="0" tIns="0" rIns="0" bIns="0" rtlCol="0" anchor="t"/>
          <a:lstStyle/>
          <a:p>
            <a:pPr indent="0" marL="0">
              <a:buNone/>
            </a:pPr>
            <a:r>
              <a:rPr lang="en-US" sz="1400" dirty="0">
                <a:solidFill>
                  <a:srgbClr val="8A9099"/>
                </a:solidFill>
              </a:rPr>
              <a:t>Author Name  ·  Machine Vision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Everything the policy sees fits in 16 numbers</a:t>
            </a:r>
            <a:endParaRPr lang="en-US" sz="3200" dirty="0"/>
          </a:p>
        </p:txBody>
      </p:sp>
      <p:sp>
        <p:nvSpPr>
          <p:cNvPr id="3" name="Text 1"/>
          <p:cNvSpPr txBox="1"/>
          <p:nvPr/>
        </p:nvSpPr>
        <p:spPr>
          <a:xfrm>
            <a:off x="548640" y="1554480"/>
            <a:ext cx="265176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16</a:t>
            </a:r>
            <a:endParaRPr lang="en-US" sz="4800" dirty="0"/>
          </a:p>
        </p:txBody>
      </p:sp>
      <p:sp>
        <p:nvSpPr>
          <p:cNvPr id="4" name="Text 2"/>
          <p:cNvSpPr txBox="1"/>
          <p:nvPr/>
        </p:nvSpPr>
        <p:spPr>
          <a:xfrm>
            <a:off x="548640" y="2423160"/>
            <a:ext cx="2651760" cy="731520"/>
          </a:xfrm>
          <a:prstGeom prst="rect">
            <a:avLst/>
          </a:prstGeom>
          <a:noFill/>
          <a:ln/>
        </p:spPr>
        <p:txBody>
          <a:bodyPr wrap="square" lIns="0" tIns="0" rIns="0" bIns="0" rtlCol="0" anchor="t"/>
          <a:lstStyle/>
          <a:p>
            <a:pPr indent="0" marL="0">
              <a:buNone/>
            </a:pPr>
            <a:r>
              <a:rPr lang="en-US" sz="1400" dirty="0">
                <a:solidFill>
                  <a:schemeClr val="tx2"/>
                </a:solidFill>
              </a:rPr>
              <a:t>dimensional latent vector: the policy's entire view of the world</a:t>
            </a:r>
            <a:endParaRPr lang="en-US" sz="1400" dirty="0"/>
          </a:p>
        </p:txBody>
      </p:sp>
      <p:sp>
        <p:nvSpPr>
          <p:cNvPr id="5" name="Text 3"/>
          <p:cNvSpPr txBox="1"/>
          <p:nvPr/>
        </p:nvSpPr>
        <p:spPr>
          <a:xfrm>
            <a:off x="3429000" y="1554480"/>
            <a:ext cx="265176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255k</a:t>
            </a:r>
            <a:endParaRPr lang="en-US" sz="4800" dirty="0"/>
          </a:p>
        </p:txBody>
      </p:sp>
      <p:sp>
        <p:nvSpPr>
          <p:cNvPr id="6" name="Text 4"/>
          <p:cNvSpPr txBox="1"/>
          <p:nvPr/>
        </p:nvSpPr>
        <p:spPr>
          <a:xfrm>
            <a:off x="3429000" y="2423160"/>
            <a:ext cx="2651760" cy="731520"/>
          </a:xfrm>
          <a:prstGeom prst="rect">
            <a:avLst/>
          </a:prstGeom>
          <a:noFill/>
          <a:ln/>
        </p:spPr>
        <p:txBody>
          <a:bodyPr wrap="square" lIns="0" tIns="0" rIns="0" bIns="0" rtlCol="0" anchor="t"/>
          <a:lstStyle/>
          <a:p>
            <a:pPr indent="0" marL="0">
              <a:buNone/>
            </a:pPr>
            <a:r>
              <a:rPr lang="en-US" sz="1400" dirty="0">
                <a:solidFill>
                  <a:schemeClr val="tx2"/>
                </a:solidFill>
              </a:rPr>
              <a:t>parameters in the whole network</a:t>
            </a:r>
            <a:endParaRPr lang="en-US" sz="1400" dirty="0"/>
          </a:p>
        </p:txBody>
      </p:sp>
      <p:sp>
        <p:nvSpPr>
          <p:cNvPr id="7" name="Text 5"/>
          <p:cNvSpPr txBox="1"/>
          <p:nvPr/>
        </p:nvSpPr>
        <p:spPr>
          <a:xfrm>
            <a:off x="6309360" y="1554480"/>
            <a:ext cx="265176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1.5 ms</a:t>
            </a:r>
            <a:endParaRPr lang="en-US" sz="4800" dirty="0"/>
          </a:p>
        </p:txBody>
      </p:sp>
      <p:sp>
        <p:nvSpPr>
          <p:cNvPr id="8" name="Text 6"/>
          <p:cNvSpPr txBox="1"/>
          <p:nvPr/>
        </p:nvSpPr>
        <p:spPr>
          <a:xfrm>
            <a:off x="6309360" y="2423160"/>
            <a:ext cx="2651760" cy="731520"/>
          </a:xfrm>
          <a:prstGeom prst="rect">
            <a:avLst/>
          </a:prstGeom>
          <a:noFill/>
          <a:ln/>
        </p:spPr>
        <p:txBody>
          <a:bodyPr wrap="square" lIns="0" tIns="0" rIns="0" bIns="0" rtlCol="0" anchor="t"/>
          <a:lstStyle/>
          <a:p>
            <a:pPr indent="0" marL="0">
              <a:buNone/>
            </a:pPr>
            <a:r>
              <a:rPr lang="en-US" sz="1400" dirty="0">
                <a:solidFill>
                  <a:schemeClr val="tx2"/>
                </a:solidFill>
              </a:rPr>
              <a:t>per decision for six arms (CUDA graph, idle GPU)</a:t>
            </a:r>
            <a:endParaRPr lang="en-US" sz="1400" dirty="0"/>
          </a:p>
        </p:txBody>
      </p:sp>
      <p:sp>
        <p:nvSpPr>
          <p:cNvPr id="9" name="Text 7"/>
          <p:cNvSpPr txBox="1"/>
          <p:nvPr/>
        </p:nvSpPr>
        <p:spPr>
          <a:xfrm>
            <a:off x="9189720" y="1554480"/>
            <a:ext cx="2651760" cy="822960"/>
          </a:xfrm>
          <a:prstGeom prst="rect">
            <a:avLst/>
          </a:prstGeom>
          <a:noFill/>
          <a:ln/>
        </p:spPr>
        <p:txBody>
          <a:bodyPr wrap="square" lIns="0" tIns="0" rIns="0" bIns="0" rtlCol="0" anchor="t"/>
          <a:lstStyle/>
          <a:p>
            <a:pPr indent="0" marL="0">
              <a:buNone/>
            </a:pPr>
            <a:r>
              <a:rPr lang="en-US" sz="4800" b="1" dirty="0">
                <a:solidFill>
                  <a:schemeClr val="accent4"/>
                </a:solidFill>
                <a:latin typeface="Cambria" pitchFamily="34" charset="0"/>
                <a:ea typeface="Cambria" pitchFamily="34" charset="-122"/>
                <a:cs typeface="Cambria" pitchFamily="34" charset="-120"/>
              </a:rPr>
              <a:t>2</a:t>
            </a:r>
            <a:endParaRPr lang="en-US" sz="4800" dirty="0"/>
          </a:p>
        </p:txBody>
      </p:sp>
      <p:sp>
        <p:nvSpPr>
          <p:cNvPr id="10" name="Text 8"/>
          <p:cNvSpPr txBox="1"/>
          <p:nvPr/>
        </p:nvSpPr>
        <p:spPr>
          <a:xfrm>
            <a:off x="9189720" y="2423160"/>
            <a:ext cx="2651760" cy="731520"/>
          </a:xfrm>
          <a:prstGeom prst="rect">
            <a:avLst/>
          </a:prstGeom>
          <a:noFill/>
          <a:ln/>
        </p:spPr>
        <p:txBody>
          <a:bodyPr wrap="square" lIns="0" tIns="0" rIns="0" bIns="0" rtlCol="0" anchor="t"/>
          <a:lstStyle/>
          <a:p>
            <a:pPr indent="0" marL="0">
              <a:buNone/>
            </a:pPr>
            <a:r>
              <a:rPr lang="en-US" sz="1400" dirty="0">
                <a:solidFill>
                  <a:schemeClr val="tx2"/>
                </a:solidFill>
              </a:rPr>
              <a:t>low-resolution RGB cameras: head 96×96, wrist 64×64</a:t>
            </a:r>
            <a:endParaRPr lang="en-US" sz="1400" dirty="0"/>
          </a:p>
        </p:txBody>
      </p:sp>
      <p:sp>
        <p:nvSpPr>
          <p:cNvPr id="11" name="question-card"/>
          <p:cNvSpPr/>
          <p:nvPr/>
        </p:nvSpPr>
        <p:spPr>
          <a:xfrm>
            <a:off x="548640" y="3931920"/>
            <a:ext cx="11064240" cy="1874520"/>
          </a:xfrm>
          <a:prstGeom prst="roundRect">
            <a:avLst>
              <a:gd name="adj" fmla="val 3902"/>
            </a:avLst>
          </a:prstGeom>
          <a:solidFill>
            <a:schemeClr val="bg2"/>
          </a:solidFill>
          <a:ln/>
        </p:spPr>
      </p:sp>
      <p:sp>
        <p:nvSpPr>
          <p:cNvPr id="12" name="Text 10"/>
          <p:cNvSpPr txBox="1"/>
          <p:nvPr/>
        </p:nvSpPr>
        <p:spPr>
          <a:xfrm>
            <a:off x="822960" y="4114800"/>
            <a:ext cx="10515600" cy="16002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Research questions</a:t>
            </a:r>
            <a:endParaRPr lang="en-US" sz="1600" dirty="0"/>
          </a:p>
          <a:p>
            <a:pPr marL="342900" indent="-342900">
              <a:spcAft>
                <a:spcPts val="600"/>
              </a:spcAft>
              <a:buSzPct val="100000"/>
              <a:buChar char="•"/>
            </a:pPr>
            <a:r>
              <a:rPr lang="en-US" sz="1600" dirty="0">
                <a:solidFill>
                  <a:schemeClr val="tx2"/>
                </a:solidFill>
              </a:rPr>
              <a:t>What task structure survives a 16-D visual bottleneck?</a:t>
            </a:r>
            <a:endParaRPr lang="en-US" sz="1600" dirty="0"/>
          </a:p>
          <a:p>
            <a:pPr marL="342900" indent="-342900">
              <a:spcAft>
                <a:spcPts val="600"/>
              </a:spcAft>
              <a:buSzPct val="100000"/>
              <a:buChar char="•"/>
            </a:pPr>
            <a:r>
              <a:rPr lang="en-US" sz="1600" dirty="0">
                <a:solidFill>
                  <a:schemeClr val="tx2"/>
                </a:solidFill>
              </a:rPr>
              <a:t>Which skills can such a policy perform on its own, and which need a slower, smarter layer above it?</a:t>
            </a:r>
            <a:endParaRPr lang="en-US" sz="1600" dirty="0"/>
          </a:p>
          <a:p>
            <a:pPr marL="342900" indent="-342900">
              <a:spcAft>
                <a:spcPts val="600"/>
              </a:spcAft>
              <a:buSzPct val="100000"/>
              <a:buChar char="•"/>
            </a:pPr>
            <a:r>
              <a:rPr lang="en-US" sz="1600" dirty="0">
                <a:solidFill>
                  <a:schemeClr val="tx2"/>
                </a:solidFill>
              </a:rPr>
              <a:t>Can a vision-language model program and verify those skills from camera images?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Simulated cell: pick, drive, drop</a:t>
            </a:r>
            <a:endParaRPr lang="en-US" sz="3200" dirty="0"/>
          </a:p>
        </p:txBody>
      </p:sp>
      <p:pic>
        <p:nvPicPr>
          <p:cNvPr id="3" name="scene" descr="C:\Users\mirai\latent_robot_demo\paper\figures\scene.png">    </p:cNvPr>
          <p:cNvPicPr>
            <a:picLocks noChangeAspect="1"/>
          </p:cNvPicPr>
          <p:nvPr/>
        </p:nvPicPr>
        <p:blipFill>
          <a:blip r:embed="rId1"/>
          <a:stretch>
            <a:fillRect/>
          </a:stretch>
        </p:blipFill>
        <p:spPr>
          <a:xfrm>
            <a:off x="548640" y="1325880"/>
            <a:ext cx="7680960" cy="2578608"/>
          </a:xfrm>
          <a:prstGeom prst="rect">
            <a:avLst/>
          </a:prstGeom>
        </p:spPr>
      </p:pic>
      <p:sp>
        <p:nvSpPr>
          <p:cNvPr id="4" name="Text 1"/>
          <p:cNvSpPr txBox="1"/>
          <p:nvPr/>
        </p:nvSpPr>
        <p:spPr>
          <a:xfrm>
            <a:off x="8503920" y="1417320"/>
            <a:ext cx="329184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Isaac Sim 5.1, PhysX 120 Hz, control 15 Hz</a:t>
            </a:r>
            <a:endParaRPr lang="en-US" sz="1500" dirty="0"/>
          </a:p>
          <a:p>
            <a:pPr marL="342900" indent="-342900">
              <a:spcAft>
                <a:spcPts val="800"/>
              </a:spcAft>
              <a:buSzPct val="100000"/>
              <a:buChar char="•"/>
            </a:pPr>
            <a:r>
              <a:rPr lang="en-US" sz="1500" dirty="0">
                <a:solidFill>
                  <a:schemeClr val="tx2"/>
                </a:solidFill>
              </a:rPr>
              <a:t>Ridgeback + Franka Panda; holonomic base model</a:t>
            </a:r>
            <a:endParaRPr lang="en-US" sz="1500" dirty="0"/>
          </a:p>
          <a:p>
            <a:pPr marL="342900" indent="-342900">
              <a:spcAft>
                <a:spcPts val="800"/>
              </a:spcAft>
              <a:buSzPct val="100000"/>
              <a:buChar char="•"/>
            </a:pPr>
            <a:r>
              <a:rPr lang="en-US" sz="1500" dirty="0">
                <a:solidFill>
                  <a:schemeClr val="tx2"/>
                </a:solidFill>
              </a:rPr>
              <a:t>Red cube, blue ball, green puck; three bins</a:t>
            </a:r>
            <a:endParaRPr lang="en-US" sz="1500" dirty="0"/>
          </a:p>
          <a:p>
            <a:pPr marL="342900" indent="-342900">
              <a:spcAft>
                <a:spcPts val="800"/>
              </a:spcAft>
              <a:buSzPct val="100000"/>
              <a:buChar char="•"/>
            </a:pPr>
            <a:r>
              <a:rPr lang="en-US" sz="1500" dirty="0">
                <a:solidFill>
                  <a:schemeClr val="tx2"/>
                </a:solidFill>
              </a:rPr>
              <a:t>Friction grasps only: no welds, no teleporting</a:t>
            </a:r>
            <a:endParaRPr lang="en-US" sz="1500" dirty="0"/>
          </a:p>
        </p:txBody>
      </p:sp>
      <p:sp>
        <p:nvSpPr>
          <p:cNvPr id="5" name="teacher-card"/>
          <p:cNvSpPr/>
          <p:nvPr/>
        </p:nvSpPr>
        <p:spPr>
          <a:xfrm>
            <a:off x="548640" y="4251960"/>
            <a:ext cx="11064240" cy="1417320"/>
          </a:xfrm>
          <a:prstGeom prst="roundRect">
            <a:avLst>
              <a:gd name="adj" fmla="val 5161"/>
            </a:avLst>
          </a:prstGeom>
          <a:solidFill>
            <a:schemeClr val="bg2"/>
          </a:solidFill>
          <a:ln/>
        </p:spPr>
      </p:sp>
      <p:sp>
        <p:nvSpPr>
          <p:cNvPr id="6" name="Text 3"/>
          <p:cNvSpPr txBox="1"/>
          <p:nvPr/>
        </p:nvSpPr>
        <p:spPr>
          <a:xfrm>
            <a:off x="822960" y="4434840"/>
            <a:ext cx="10515600" cy="1097280"/>
          </a:xfrm>
          <a:prstGeom prst="rect">
            <a:avLst/>
          </a:prstGeom>
          <a:noFill/>
          <a:ln/>
        </p:spPr>
        <p:txBody>
          <a:bodyPr wrap="square" lIns="0" tIns="0" rIns="0" bIns="0" rtlCol="0" anchor="t"/>
          <a:lstStyle/>
          <a:p>
            <a:pPr indent="0" marL="0">
              <a:buNone/>
            </a:pPr>
            <a:r>
              <a:rPr lang="en-US" sz="1700" b="1" dirty="0">
                <a:solidFill>
                  <a:schemeClr val="tx1"/>
                </a:solidFill>
              </a:rPr>
              <a:t>Privileged teacher (training data only)</a:t>
            </a:r>
            <a:endParaRPr lang="en-US" sz="1500" dirty="0"/>
          </a:p>
          <a:p>
            <a:pPr indent="0" marL="0">
              <a:buNone/>
            </a:pPr>
            <a:r>
              <a:rPr lang="en-US" sz="1500" dirty="0">
                <a:solidFill>
                  <a:schemeClr val="tx2"/>
                </a:solidFill>
              </a:rPr>
              <a:t>Reads true poses from the simulator: grid path planning for driving, a descent funnel for grasping. Its decisions depend only on the current state, so it can relabel any state the student reaches. It never drives a reported student run.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Two speeds: a VLM writes programs, a tiny policy moves</a:t>
            </a:r>
            <a:endParaRPr lang="en-US" sz="3200" dirty="0"/>
          </a:p>
        </p:txBody>
      </p:sp>
      <p:sp>
        <p:nvSpPr>
          <p:cNvPr id="3" name="level-0"/>
          <p:cNvSpPr/>
          <p:nvPr/>
        </p:nvSpPr>
        <p:spPr>
          <a:xfrm>
            <a:off x="548640" y="1463040"/>
            <a:ext cx="11064240" cy="1325880"/>
          </a:xfrm>
          <a:prstGeom prst="roundRect">
            <a:avLst>
              <a:gd name="adj" fmla="val 5517"/>
            </a:avLst>
          </a:prstGeom>
          <a:solidFill>
            <a:schemeClr val="bg2"/>
          </a:solidFill>
          <a:ln w="19050">
            <a:solidFill>
              <a:schemeClr val="accent4"/>
            </a:solidFill>
            <a:prstDash val="solid"/>
          </a:ln>
        </p:spPr>
      </p:sp>
      <p:sp>
        <p:nvSpPr>
          <p:cNvPr id="4" name="Text 2"/>
          <p:cNvSpPr txBox="1"/>
          <p:nvPr/>
        </p:nvSpPr>
        <p:spPr>
          <a:xfrm>
            <a:off x="822960" y="1627632"/>
            <a:ext cx="3657600" cy="457200"/>
          </a:xfrm>
          <a:prstGeom prst="rect">
            <a:avLst/>
          </a:prstGeom>
          <a:noFill/>
          <a:ln/>
        </p:spPr>
        <p:txBody>
          <a:bodyPr wrap="square" lIns="0" tIns="0" rIns="0" bIns="0" rtlCol="0" anchor="t"/>
          <a:lstStyle/>
          <a:p>
            <a:pPr indent="0" marL="0">
              <a:buNone/>
            </a:pPr>
            <a:r>
              <a:rPr lang="en-US" sz="1900" b="1" dirty="0">
                <a:solidFill>
                  <a:schemeClr val="accent4"/>
                </a:solidFill>
              </a:rPr>
              <a:t>Claude Opus 5.5 programmer</a:t>
            </a:r>
            <a:endParaRPr lang="en-US" sz="1900" dirty="0"/>
          </a:p>
        </p:txBody>
      </p:sp>
      <p:sp>
        <p:nvSpPr>
          <p:cNvPr id="5" name="Text 3"/>
          <p:cNvSpPr txBox="1"/>
          <p:nvPr/>
        </p:nvSpPr>
        <p:spPr>
          <a:xfrm>
            <a:off x="822960" y="2084832"/>
            <a:ext cx="7863840" cy="594360"/>
          </a:xfrm>
          <a:prstGeom prst="rect">
            <a:avLst/>
          </a:prstGeom>
          <a:noFill/>
          <a:ln/>
        </p:spPr>
        <p:txBody>
          <a:bodyPr wrap="square" lIns="0" tIns="0" rIns="0" bIns="0" rtlCol="0" anchor="t"/>
          <a:lstStyle/>
          <a:p>
            <a:pPr indent="0" marL="0">
              <a:buNone/>
            </a:pPr>
            <a:r>
              <a:rPr lang="en-US" sz="1500" dirty="0">
                <a:solidFill>
                  <a:schemeClr val="tx2"/>
                </a:solidFill>
              </a:rPr>
              <a:t>reads 4 camera views + execution log, writes face / goto / pick / drop programs, verifies outcomes</a:t>
            </a:r>
            <a:endParaRPr lang="en-US" sz="1500" dirty="0"/>
          </a:p>
        </p:txBody>
      </p:sp>
      <p:sp>
        <p:nvSpPr>
          <p:cNvPr id="6" name="Text 4"/>
          <p:cNvSpPr txBox="1"/>
          <p:nvPr/>
        </p:nvSpPr>
        <p:spPr>
          <a:xfrm>
            <a:off x="8961120" y="1874520"/>
            <a:ext cx="2468880" cy="457200"/>
          </a:xfrm>
          <a:prstGeom prst="rect">
            <a:avLst/>
          </a:prstGeom>
          <a:noFill/>
          <a:ln/>
        </p:spPr>
        <p:txBody>
          <a:bodyPr wrap="square" lIns="0" tIns="0" rIns="0" bIns="0" rtlCol="0" anchor="t"/>
          <a:lstStyle/>
          <a:p>
            <a:pPr algn="r" indent="0" marL="0">
              <a:buNone/>
            </a:pPr>
            <a:r>
              <a:rPr lang="en-US" sz="1800" b="1" dirty="0">
                <a:solidFill>
                  <a:schemeClr val="tx1"/>
                </a:solidFill>
              </a:rPr>
              <a:t>~10 s per call</a:t>
            </a:r>
            <a:endParaRPr lang="en-US" sz="1800" dirty="0"/>
          </a:p>
        </p:txBody>
      </p:sp>
      <p:sp>
        <p:nvSpPr>
          <p:cNvPr id="7" name="level-1"/>
          <p:cNvSpPr/>
          <p:nvPr/>
        </p:nvSpPr>
        <p:spPr>
          <a:xfrm>
            <a:off x="548640" y="3063240"/>
            <a:ext cx="11064240" cy="1325880"/>
          </a:xfrm>
          <a:prstGeom prst="roundRect">
            <a:avLst>
              <a:gd name="adj" fmla="val 5517"/>
            </a:avLst>
          </a:prstGeom>
          <a:solidFill>
            <a:schemeClr val="bg2"/>
          </a:solidFill>
          <a:ln w="19050">
            <a:solidFill>
              <a:schemeClr val="accent1"/>
            </a:solidFill>
            <a:prstDash val="solid"/>
          </a:ln>
        </p:spPr>
      </p:sp>
      <p:sp>
        <p:nvSpPr>
          <p:cNvPr id="8" name="Text 6"/>
          <p:cNvSpPr txBox="1"/>
          <p:nvPr/>
        </p:nvSpPr>
        <p:spPr>
          <a:xfrm>
            <a:off x="822960" y="3227832"/>
            <a:ext cx="3657600" cy="457200"/>
          </a:xfrm>
          <a:prstGeom prst="rect">
            <a:avLst/>
          </a:prstGeom>
          <a:noFill/>
          <a:ln/>
        </p:spPr>
        <p:txBody>
          <a:bodyPr wrap="square" lIns="0" tIns="0" rIns="0" bIns="0" rtlCol="0" anchor="t"/>
          <a:lstStyle/>
          <a:p>
            <a:pPr indent="0" marL="0">
              <a:buNone/>
            </a:pPr>
            <a:r>
              <a:rPr lang="en-US" sz="1900" b="1" dirty="0">
                <a:solidFill>
                  <a:schemeClr val="accent1"/>
                </a:solidFill>
              </a:rPr>
              <a:t>Learned latent skills</a:t>
            </a:r>
            <a:endParaRPr lang="en-US" sz="1900" dirty="0"/>
          </a:p>
        </p:txBody>
      </p:sp>
      <p:sp>
        <p:nvSpPr>
          <p:cNvPr id="9" name="Text 7"/>
          <p:cNvSpPr txBox="1"/>
          <p:nvPr/>
        </p:nvSpPr>
        <p:spPr>
          <a:xfrm>
            <a:off x="822960" y="3685032"/>
            <a:ext cx="7863840" cy="594360"/>
          </a:xfrm>
          <a:prstGeom prst="rect">
            <a:avLst/>
          </a:prstGeom>
          <a:noFill/>
          <a:ln/>
        </p:spPr>
        <p:txBody>
          <a:bodyPr wrap="square" lIns="0" tIns="0" rIns="0" bIns="0" rtlCol="0" anchor="t"/>
          <a:lstStyle/>
          <a:p>
            <a:pPr indent="0" marL="0">
              <a:buNone/>
            </a:pPr>
            <a:r>
              <a:rPr lang="en-US" sz="1500" dirty="0">
                <a:solidFill>
                  <a:schemeClr val="tx2"/>
                </a:solidFill>
              </a:rPr>
              <a:t>pick(color), drop(): gripper x/y/z velocity + grip from two RGB cameras</a:t>
            </a:r>
            <a:endParaRPr lang="en-US" sz="1500" dirty="0"/>
          </a:p>
        </p:txBody>
      </p:sp>
      <p:sp>
        <p:nvSpPr>
          <p:cNvPr id="10" name="Text 8"/>
          <p:cNvSpPr txBox="1"/>
          <p:nvPr/>
        </p:nvSpPr>
        <p:spPr>
          <a:xfrm>
            <a:off x="8961120" y="3474720"/>
            <a:ext cx="2468880" cy="457200"/>
          </a:xfrm>
          <a:prstGeom prst="rect">
            <a:avLst/>
          </a:prstGeom>
          <a:noFill/>
          <a:ln/>
        </p:spPr>
        <p:txBody>
          <a:bodyPr wrap="square" lIns="0" tIns="0" rIns="0" bIns="0" rtlCol="0" anchor="t"/>
          <a:lstStyle/>
          <a:p>
            <a:pPr algn="r" indent="0" marL="0">
              <a:buNone/>
            </a:pPr>
            <a:r>
              <a:rPr lang="en-US" sz="1800" b="1" dirty="0">
                <a:solidFill>
                  <a:schemeClr val="tx1"/>
                </a:solidFill>
              </a:rPr>
              <a:t>15 Hz, 1.5–15 ms</a:t>
            </a:r>
            <a:endParaRPr lang="en-US" sz="1800" dirty="0"/>
          </a:p>
        </p:txBody>
      </p:sp>
      <p:sp>
        <p:nvSpPr>
          <p:cNvPr id="11" name="level-2"/>
          <p:cNvSpPr/>
          <p:nvPr/>
        </p:nvSpPr>
        <p:spPr>
          <a:xfrm>
            <a:off x="548640" y="4663440"/>
            <a:ext cx="11064240" cy="1325880"/>
          </a:xfrm>
          <a:prstGeom prst="roundRect">
            <a:avLst>
              <a:gd name="adj" fmla="val 5517"/>
            </a:avLst>
          </a:prstGeom>
          <a:solidFill>
            <a:schemeClr val="bg2"/>
          </a:solidFill>
          <a:ln w="19050">
            <a:solidFill>
              <a:schemeClr val="accent5"/>
            </a:solidFill>
            <a:prstDash val="solid"/>
          </a:ln>
        </p:spPr>
      </p:sp>
      <p:sp>
        <p:nvSpPr>
          <p:cNvPr id="12" name="Text 10"/>
          <p:cNvSpPr txBox="1"/>
          <p:nvPr/>
        </p:nvSpPr>
        <p:spPr>
          <a:xfrm>
            <a:off x="822960" y="4828032"/>
            <a:ext cx="3657600" cy="457200"/>
          </a:xfrm>
          <a:prstGeom prst="rect">
            <a:avLst/>
          </a:prstGeom>
          <a:noFill/>
          <a:ln/>
        </p:spPr>
        <p:txBody>
          <a:bodyPr wrap="square" lIns="0" tIns="0" rIns="0" bIns="0" rtlCol="0" anchor="t"/>
          <a:lstStyle/>
          <a:p>
            <a:pPr indent="0" marL="0">
              <a:buNone/>
            </a:pPr>
            <a:r>
              <a:rPr lang="en-US" sz="1900" b="1" dirty="0">
                <a:solidFill>
                  <a:schemeClr val="accent5"/>
                </a:solidFill>
              </a:rPr>
              <a:t>Fixed controllers</a:t>
            </a:r>
            <a:endParaRPr lang="en-US" sz="1900" dirty="0"/>
          </a:p>
        </p:txBody>
      </p:sp>
      <p:sp>
        <p:nvSpPr>
          <p:cNvPr id="13" name="Text 11"/>
          <p:cNvSpPr txBox="1"/>
          <p:nvPr/>
        </p:nvSpPr>
        <p:spPr>
          <a:xfrm>
            <a:off x="822960" y="5285232"/>
            <a:ext cx="7863840" cy="594360"/>
          </a:xfrm>
          <a:prstGeom prst="rect">
            <a:avLst/>
          </a:prstGeom>
          <a:noFill/>
          <a:ln/>
        </p:spPr>
        <p:txBody>
          <a:bodyPr wrap="square" lIns="0" tIns="0" rIns="0" bIns="0" rtlCol="0" anchor="t"/>
          <a:lstStyle/>
          <a:p>
            <a:pPr indent="0" marL="0">
              <a:buNone/>
            </a:pPr>
            <a:r>
              <a:rPr lang="en-US" sz="1500" dirty="0">
                <a:solidFill>
                  <a:schemeClr val="tx2"/>
                </a:solidFill>
              </a:rPr>
              <a:t>face(): heading control · goto(): grid planner · wrist angle hold · inverse kinematics</a:t>
            </a:r>
            <a:endParaRPr lang="en-US" sz="1500" dirty="0"/>
          </a:p>
        </p:txBody>
      </p:sp>
      <p:sp>
        <p:nvSpPr>
          <p:cNvPr id="14" name="Text 12"/>
          <p:cNvSpPr txBox="1"/>
          <p:nvPr/>
        </p:nvSpPr>
        <p:spPr>
          <a:xfrm>
            <a:off x="8961120" y="5074920"/>
            <a:ext cx="2468880" cy="457200"/>
          </a:xfrm>
          <a:prstGeom prst="rect">
            <a:avLst/>
          </a:prstGeom>
          <a:noFill/>
          <a:ln/>
        </p:spPr>
        <p:txBody>
          <a:bodyPr wrap="square" lIns="0" tIns="0" rIns="0" bIns="0" rtlCol="0" anchor="t"/>
          <a:lstStyle/>
          <a:p>
            <a:pPr algn="r" indent="0" marL="0">
              <a:buNone/>
            </a:pPr>
            <a:r>
              <a:rPr lang="en-US" sz="1800" b="1" dirty="0">
                <a:solidFill>
                  <a:schemeClr val="tx1"/>
                </a:solidFill>
              </a:rPr>
              <a:t>15 Hz</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Three roles: teacher, student, operator</a:t>
            </a:r>
            <a:endParaRPr lang="en-US" sz="3200" dirty="0"/>
          </a:p>
        </p:txBody>
      </p:sp>
      <p:sp>
        <p:nvSpPr>
          <p:cNvPr id="3" name="role-Teacher"/>
          <p:cNvSpPr/>
          <p:nvPr/>
        </p:nvSpPr>
        <p:spPr>
          <a:xfrm>
            <a:off x="548640" y="1463040"/>
            <a:ext cx="3520440" cy="3291840"/>
          </a:xfrm>
          <a:prstGeom prst="roundRect">
            <a:avLst>
              <a:gd name="adj" fmla="val 2222"/>
            </a:avLst>
          </a:prstGeom>
          <a:solidFill>
            <a:schemeClr val="bg2"/>
          </a:solidFill>
          <a:ln w="19050">
            <a:solidFill>
              <a:schemeClr val="accent5"/>
            </a:solidFill>
            <a:prstDash val="solid"/>
          </a:ln>
        </p:spPr>
      </p:sp>
      <p:sp>
        <p:nvSpPr>
          <p:cNvPr id="4" name="Text 2"/>
          <p:cNvSpPr txBox="1"/>
          <p:nvPr/>
        </p:nvSpPr>
        <p:spPr>
          <a:xfrm>
            <a:off x="822960" y="1645920"/>
            <a:ext cx="3017520" cy="50292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Teacher</a:t>
            </a:r>
            <a:endParaRPr lang="en-US" sz="2400" dirty="0"/>
          </a:p>
        </p:txBody>
      </p:sp>
      <p:sp>
        <p:nvSpPr>
          <p:cNvPr id="5" name="Text 3"/>
          <p:cNvSpPr txBox="1"/>
          <p:nvPr/>
        </p:nvSpPr>
        <p:spPr>
          <a:xfrm>
            <a:off x="822960" y="2176272"/>
            <a:ext cx="3017520" cy="365760"/>
          </a:xfrm>
          <a:prstGeom prst="rect">
            <a:avLst/>
          </a:prstGeom>
          <a:noFill/>
          <a:ln/>
        </p:spPr>
        <p:txBody>
          <a:bodyPr wrap="square" lIns="0" tIns="0" rIns="0" bIns="0" rtlCol="0" anchor="t"/>
          <a:lstStyle/>
          <a:p>
            <a:pPr indent="0" marL="0">
              <a:buNone/>
            </a:pPr>
            <a:r>
              <a:rPr lang="en-US" sz="1500" b="1" dirty="0">
                <a:solidFill>
                  <a:schemeClr val="tx1"/>
                </a:solidFill>
              </a:rPr>
              <a:t>scripted controller</a:t>
            </a:r>
            <a:endParaRPr lang="en-US" sz="1500" dirty="0"/>
          </a:p>
        </p:txBody>
      </p:sp>
      <p:sp>
        <p:nvSpPr>
          <p:cNvPr id="6" name="Text 4"/>
          <p:cNvSpPr txBox="1"/>
          <p:nvPr/>
        </p:nvSpPr>
        <p:spPr>
          <a:xfrm>
            <a:off x="822960" y="2651760"/>
            <a:ext cx="3017520" cy="1645920"/>
          </a:xfrm>
          <a:prstGeom prst="rect">
            <a:avLst/>
          </a:prstGeom>
          <a:noFill/>
          <a:ln/>
        </p:spPr>
        <p:txBody>
          <a:bodyPr wrap="square" lIns="0" tIns="0" rIns="0" bIns="0" rtlCol="0" anchor="t"/>
          <a:lstStyle/>
          <a:p>
            <a:pPr indent="0" marL="0">
              <a:buNone/>
            </a:pPr>
            <a:r>
              <a:rPr lang="en-US" sz="1400" dirty="0">
                <a:solidFill>
                  <a:schemeClr val="tx2"/>
                </a:solidFill>
              </a:rPr>
              <a:t>Reads exact object poses from the simulator. Demonstrates the task and labels the student's mistakes. Used only to make training data.</a:t>
            </a:r>
            <a:endParaRPr lang="en-US" sz="1400" dirty="0"/>
          </a:p>
        </p:txBody>
      </p:sp>
      <p:sp>
        <p:nvSpPr>
          <p:cNvPr id="7" name="Text 5"/>
          <p:cNvSpPr txBox="1"/>
          <p:nvPr/>
        </p:nvSpPr>
        <p:spPr>
          <a:xfrm>
            <a:off x="822960" y="4297680"/>
            <a:ext cx="3017520" cy="320040"/>
          </a:xfrm>
          <a:prstGeom prst="rect">
            <a:avLst/>
          </a:prstGeom>
          <a:noFill/>
          <a:ln/>
        </p:spPr>
        <p:txBody>
          <a:bodyPr wrap="square" lIns="0" tIns="0" rIns="0" bIns="0" rtlCol="0" anchor="t"/>
          <a:lstStyle/>
          <a:p>
            <a:pPr indent="0" marL="0">
              <a:buNone/>
            </a:pPr>
            <a:r>
              <a:rPr lang="en-US" sz="1200" b="1" dirty="0">
                <a:solidFill>
                  <a:srgbClr val="6B7280"/>
                </a:solidFill>
              </a:rPr>
              <a:t>training only</a:t>
            </a:r>
            <a:endParaRPr lang="en-US" sz="1200" dirty="0"/>
          </a:p>
        </p:txBody>
      </p:sp>
      <p:sp>
        <p:nvSpPr>
          <p:cNvPr id="8" name="Text 6"/>
          <p:cNvSpPr txBox="1"/>
          <p:nvPr/>
        </p:nvSpPr>
        <p:spPr>
          <a:xfrm>
            <a:off x="4069080" y="2834640"/>
            <a:ext cx="228600" cy="457200"/>
          </a:xfrm>
          <a:prstGeom prst="rect">
            <a:avLst/>
          </a:prstGeom>
          <a:noFill/>
          <a:ln/>
        </p:spPr>
        <p:txBody>
          <a:bodyPr wrap="square" lIns="0" tIns="0" rIns="0" bIns="0" rtlCol="0" anchor="t"/>
          <a:lstStyle/>
          <a:p>
            <a:pPr algn="ctr" indent="0" marL="0">
              <a:buNone/>
            </a:pPr>
            <a:r>
              <a:rPr lang="en-US" sz="2000" b="1" dirty="0">
                <a:solidFill>
                  <a:srgbClr val="8A8F98"/>
                </a:solidFill>
              </a:rPr>
              <a:t>→</a:t>
            </a:r>
            <a:endParaRPr lang="en-US" sz="2000" dirty="0"/>
          </a:p>
        </p:txBody>
      </p:sp>
      <p:sp>
        <p:nvSpPr>
          <p:cNvPr id="9" name="role-Student"/>
          <p:cNvSpPr/>
          <p:nvPr/>
        </p:nvSpPr>
        <p:spPr>
          <a:xfrm>
            <a:off x="4297680" y="1463040"/>
            <a:ext cx="3520440" cy="3291840"/>
          </a:xfrm>
          <a:prstGeom prst="roundRect">
            <a:avLst>
              <a:gd name="adj" fmla="val 2222"/>
            </a:avLst>
          </a:prstGeom>
          <a:solidFill>
            <a:schemeClr val="bg2"/>
          </a:solidFill>
          <a:ln w="19050">
            <a:solidFill>
              <a:schemeClr val="accent1"/>
            </a:solidFill>
            <a:prstDash val="solid"/>
          </a:ln>
        </p:spPr>
      </p:sp>
      <p:sp>
        <p:nvSpPr>
          <p:cNvPr id="10" name="Text 8"/>
          <p:cNvSpPr txBox="1"/>
          <p:nvPr/>
        </p:nvSpPr>
        <p:spPr>
          <a:xfrm>
            <a:off x="4572000" y="1645920"/>
            <a:ext cx="301752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Student</a:t>
            </a:r>
            <a:endParaRPr lang="en-US" sz="2400" dirty="0"/>
          </a:p>
        </p:txBody>
      </p:sp>
      <p:sp>
        <p:nvSpPr>
          <p:cNvPr id="11" name="Text 9"/>
          <p:cNvSpPr txBox="1"/>
          <p:nvPr/>
        </p:nvSpPr>
        <p:spPr>
          <a:xfrm>
            <a:off x="4572000" y="2176272"/>
            <a:ext cx="3017520" cy="365760"/>
          </a:xfrm>
          <a:prstGeom prst="rect">
            <a:avLst/>
          </a:prstGeom>
          <a:noFill/>
          <a:ln/>
        </p:spPr>
        <p:txBody>
          <a:bodyPr wrap="square" lIns="0" tIns="0" rIns="0" bIns="0" rtlCol="0" anchor="t"/>
          <a:lstStyle/>
          <a:p>
            <a:pPr indent="0" marL="0">
              <a:buNone/>
            </a:pPr>
            <a:r>
              <a:rPr lang="en-US" sz="1500" b="1" dirty="0">
                <a:solidFill>
                  <a:schemeClr val="tx1"/>
                </a:solidFill>
              </a:rPr>
              <a:t>16-D latent policy</a:t>
            </a:r>
            <a:endParaRPr lang="en-US" sz="1500" dirty="0"/>
          </a:p>
        </p:txBody>
      </p:sp>
      <p:sp>
        <p:nvSpPr>
          <p:cNvPr id="12" name="Text 10"/>
          <p:cNvSpPr txBox="1"/>
          <p:nvPr/>
        </p:nvSpPr>
        <p:spPr>
          <a:xfrm>
            <a:off x="4572000" y="2651760"/>
            <a:ext cx="3017520" cy="1645920"/>
          </a:xfrm>
          <a:prstGeom prst="rect">
            <a:avLst/>
          </a:prstGeom>
          <a:noFill/>
          <a:ln/>
        </p:spPr>
        <p:txBody>
          <a:bodyPr wrap="square" lIns="0" tIns="0" rIns="0" bIns="0" rtlCol="0" anchor="t"/>
          <a:lstStyle/>
          <a:p>
            <a:pPr indent="0" marL="0">
              <a:buNone/>
            </a:pPr>
            <a:r>
              <a:rPr lang="en-US" sz="1400" dirty="0">
                <a:solidFill>
                  <a:schemeClr val="tx2"/>
                </a:solidFill>
              </a:rPr>
              <a:t>Learns to copy the teacher from two camera images alone, without the poses. Becomes the pick and drop skills.</a:t>
            </a:r>
            <a:endParaRPr lang="en-US" sz="1400" dirty="0"/>
          </a:p>
        </p:txBody>
      </p:sp>
      <p:sp>
        <p:nvSpPr>
          <p:cNvPr id="13" name="Text 11"/>
          <p:cNvSpPr txBox="1"/>
          <p:nvPr/>
        </p:nvSpPr>
        <p:spPr>
          <a:xfrm>
            <a:off x="4572000" y="4297680"/>
            <a:ext cx="3017520" cy="320040"/>
          </a:xfrm>
          <a:prstGeom prst="rect">
            <a:avLst/>
          </a:prstGeom>
          <a:noFill/>
          <a:ln/>
        </p:spPr>
        <p:txBody>
          <a:bodyPr wrap="square" lIns="0" tIns="0" rIns="0" bIns="0" rtlCol="0" anchor="t"/>
          <a:lstStyle/>
          <a:p>
            <a:pPr indent="0" marL="0">
              <a:buNone/>
            </a:pPr>
            <a:r>
              <a:rPr lang="en-US" sz="1200" b="1" dirty="0">
                <a:solidFill>
                  <a:srgbClr val="6B7280"/>
                </a:solidFill>
              </a:rPr>
              <a:t>learned</a:t>
            </a:r>
            <a:endParaRPr lang="en-US" sz="1200" dirty="0"/>
          </a:p>
        </p:txBody>
      </p:sp>
      <p:sp>
        <p:nvSpPr>
          <p:cNvPr id="14" name="Text 12"/>
          <p:cNvSpPr txBox="1"/>
          <p:nvPr/>
        </p:nvSpPr>
        <p:spPr>
          <a:xfrm>
            <a:off x="7818120" y="2834640"/>
            <a:ext cx="228600" cy="457200"/>
          </a:xfrm>
          <a:prstGeom prst="rect">
            <a:avLst/>
          </a:prstGeom>
          <a:noFill/>
          <a:ln/>
        </p:spPr>
        <p:txBody>
          <a:bodyPr wrap="square" lIns="0" tIns="0" rIns="0" bIns="0" rtlCol="0" anchor="t"/>
          <a:lstStyle/>
          <a:p>
            <a:pPr algn="ctr" indent="0" marL="0">
              <a:buNone/>
            </a:pPr>
            <a:r>
              <a:rPr lang="en-US" sz="2000" b="1" dirty="0">
                <a:solidFill>
                  <a:srgbClr val="8A8F98"/>
                </a:solidFill>
              </a:rPr>
              <a:t>→</a:t>
            </a:r>
            <a:endParaRPr lang="en-US" sz="2000" dirty="0"/>
          </a:p>
        </p:txBody>
      </p:sp>
      <p:sp>
        <p:nvSpPr>
          <p:cNvPr id="15" name="role-Operator"/>
          <p:cNvSpPr/>
          <p:nvPr/>
        </p:nvSpPr>
        <p:spPr>
          <a:xfrm>
            <a:off x="8046720" y="1463040"/>
            <a:ext cx="3520440" cy="3291840"/>
          </a:xfrm>
          <a:prstGeom prst="roundRect">
            <a:avLst>
              <a:gd name="adj" fmla="val 2222"/>
            </a:avLst>
          </a:prstGeom>
          <a:solidFill>
            <a:schemeClr val="bg2"/>
          </a:solidFill>
          <a:ln w="19050">
            <a:solidFill>
              <a:schemeClr val="accent4"/>
            </a:solidFill>
            <a:prstDash val="solid"/>
          </a:ln>
        </p:spPr>
      </p:sp>
      <p:sp>
        <p:nvSpPr>
          <p:cNvPr id="16" name="Text 14"/>
          <p:cNvSpPr txBox="1"/>
          <p:nvPr/>
        </p:nvSpPr>
        <p:spPr>
          <a:xfrm>
            <a:off x="8321040" y="1645920"/>
            <a:ext cx="3017520" cy="50292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Operator</a:t>
            </a:r>
            <a:endParaRPr lang="en-US" sz="2400" dirty="0"/>
          </a:p>
        </p:txBody>
      </p:sp>
      <p:sp>
        <p:nvSpPr>
          <p:cNvPr id="17" name="Text 15"/>
          <p:cNvSpPr txBox="1"/>
          <p:nvPr/>
        </p:nvSpPr>
        <p:spPr>
          <a:xfrm>
            <a:off x="8321040" y="2176272"/>
            <a:ext cx="3017520" cy="365760"/>
          </a:xfrm>
          <a:prstGeom prst="rect">
            <a:avLst/>
          </a:prstGeom>
          <a:noFill/>
          <a:ln/>
        </p:spPr>
        <p:txBody>
          <a:bodyPr wrap="square" lIns="0" tIns="0" rIns="0" bIns="0" rtlCol="0" anchor="t"/>
          <a:lstStyle/>
          <a:p>
            <a:pPr indent="0" marL="0">
              <a:buNone/>
            </a:pPr>
            <a:r>
              <a:rPr lang="en-US" sz="1500" b="1" dirty="0">
                <a:solidFill>
                  <a:schemeClr val="tx1"/>
                </a:solidFill>
              </a:rPr>
              <a:t>Claude Opus 5.5</a:t>
            </a:r>
            <a:endParaRPr lang="en-US" sz="1500" dirty="0"/>
          </a:p>
        </p:txBody>
      </p:sp>
      <p:sp>
        <p:nvSpPr>
          <p:cNvPr id="18" name="Text 16"/>
          <p:cNvSpPr txBox="1"/>
          <p:nvPr/>
        </p:nvSpPr>
        <p:spPr>
          <a:xfrm>
            <a:off x="8321040" y="2651760"/>
            <a:ext cx="3017520" cy="1645920"/>
          </a:xfrm>
          <a:prstGeom prst="rect">
            <a:avLst/>
          </a:prstGeom>
          <a:noFill/>
          <a:ln/>
        </p:spPr>
        <p:txBody>
          <a:bodyPr wrap="square" lIns="0" tIns="0" rIns="0" bIns="0" rtlCol="0" anchor="t"/>
          <a:lstStyle/>
          <a:p>
            <a:pPr indent="0" marL="0">
              <a:buNone/>
            </a:pPr>
            <a:r>
              <a:rPr lang="en-US" sz="1400" dirty="0">
                <a:solidFill>
                  <a:schemeClr val="tx2"/>
                </a:solidFill>
              </a:rPr>
              <a:t>Calls the trained skills, looks at the cameras, checks the outcome and retries. Never sees the teacher or the training data.</a:t>
            </a:r>
            <a:endParaRPr lang="en-US" sz="1400" dirty="0"/>
          </a:p>
        </p:txBody>
      </p:sp>
      <p:sp>
        <p:nvSpPr>
          <p:cNvPr id="19" name="Text 17"/>
          <p:cNvSpPr txBox="1"/>
          <p:nvPr/>
        </p:nvSpPr>
        <p:spPr>
          <a:xfrm>
            <a:off x="8321040" y="4297680"/>
            <a:ext cx="3017520" cy="320040"/>
          </a:xfrm>
          <a:prstGeom prst="rect">
            <a:avLst/>
          </a:prstGeom>
          <a:noFill/>
          <a:ln/>
        </p:spPr>
        <p:txBody>
          <a:bodyPr wrap="square" lIns="0" tIns="0" rIns="0" bIns="0" rtlCol="0" anchor="t"/>
          <a:lstStyle/>
          <a:p>
            <a:pPr indent="0" marL="0">
              <a:buNone/>
            </a:pPr>
            <a:r>
              <a:rPr lang="en-US" sz="1200" b="1" dirty="0">
                <a:solidFill>
                  <a:srgbClr val="6B7280"/>
                </a:solidFill>
              </a:rPr>
              <a:t>run time</a:t>
            </a:r>
            <a:endParaRPr lang="en-US" sz="1200" dirty="0"/>
          </a:p>
        </p:txBody>
      </p:sp>
      <p:sp>
        <p:nvSpPr>
          <p:cNvPr id="20" name="roles-note"/>
          <p:cNvSpPr/>
          <p:nvPr/>
        </p:nvSpPr>
        <p:spPr>
          <a:xfrm>
            <a:off x="548640" y="5029200"/>
            <a:ext cx="11064240" cy="960120"/>
          </a:xfrm>
          <a:prstGeom prst="roundRect">
            <a:avLst>
              <a:gd name="adj" fmla="val 7619"/>
            </a:avLst>
          </a:prstGeom>
          <a:solidFill>
            <a:schemeClr val="bg2"/>
          </a:solidFill>
          <a:ln/>
        </p:spPr>
      </p:sp>
      <p:sp>
        <p:nvSpPr>
          <p:cNvPr id="21" name="Text 19"/>
          <p:cNvSpPr txBox="1"/>
          <p:nvPr/>
        </p:nvSpPr>
        <p:spPr>
          <a:xfrm>
            <a:off x="822960" y="5193792"/>
            <a:ext cx="10515600" cy="685800"/>
          </a:xfrm>
          <a:prstGeom prst="rect">
            <a:avLst/>
          </a:prstGeom>
          <a:noFill/>
          <a:ln/>
        </p:spPr>
        <p:txBody>
          <a:bodyPr wrap="square" lIns="0" tIns="0" rIns="0" bIns="0" rtlCol="0" anchor="t"/>
          <a:lstStyle/>
          <a:p>
            <a:pPr indent="0" marL="0">
              <a:buNone/>
            </a:pPr>
            <a:r>
              <a:rPr lang="en-US" sz="1500" b="1" dirty="0">
                <a:solidFill>
                  <a:schemeClr val="tx1"/>
                </a:solidFill>
              </a:rPr>
              <a:t>Teacher → student is imitation learning; student → operator is a function call. </a:t>
            </a:r>
            <a:pPr indent="0" marL="0">
              <a:buNone/>
            </a:pPr>
            <a:r>
              <a:rPr lang="en-US" sz="1500" dirty="0">
                <a:solidFill>
                  <a:schemeClr val="tx2"/>
                </a:solidFill>
              </a:rPr>
              <a:t>The teacher can cheat because the simulator knows where everything is. The student has to learn the same behaviour from pixels, which is what a real robot would have.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Latent mixture-of-experts policy</a:t>
            </a:r>
            <a:endParaRPr lang="en-US" sz="3200" dirty="0"/>
          </a:p>
        </p:txBody>
      </p:sp>
      <p:sp>
        <p:nvSpPr>
          <p:cNvPr id="3" name="in-head"/>
          <p:cNvSpPr/>
          <p:nvPr/>
        </p:nvSpPr>
        <p:spPr>
          <a:xfrm>
            <a:off x="548640" y="1554480"/>
            <a:ext cx="1737360" cy="822960"/>
          </a:xfrm>
          <a:prstGeom prst="roundRect">
            <a:avLst>
              <a:gd name="adj" fmla="val 6667"/>
            </a:avLst>
          </a:prstGeom>
          <a:solidFill>
            <a:srgbClr val="E8F0FB"/>
          </a:solidFill>
          <a:ln w="15875">
            <a:solidFill>
              <a:srgbClr val="2F6DB5"/>
            </a:solidFill>
            <a:prstDash val="solid"/>
          </a:ln>
        </p:spPr>
      </p:sp>
      <p:sp>
        <p:nvSpPr>
          <p:cNvPr id="4" name="Text 2"/>
          <p:cNvSpPr txBox="1"/>
          <p:nvPr/>
        </p:nvSpPr>
        <p:spPr>
          <a:xfrm>
            <a:off x="548640" y="1554480"/>
            <a:ext cx="1737360" cy="822960"/>
          </a:xfrm>
          <a:prstGeom prst="rect">
            <a:avLst/>
          </a:prstGeom>
          <a:noFill/>
          <a:ln/>
        </p:spPr>
        <p:txBody>
          <a:bodyPr wrap="square" lIns="0" tIns="0" rIns="0" bIns="0" rtlCol="0" anchor="ctr"/>
          <a:lstStyle/>
          <a:p>
            <a:pPr algn="ctr" indent="0" marL="0">
              <a:buNone/>
            </a:pPr>
            <a:r>
              <a:rPr lang="en-US" sz="1400" dirty="0">
                <a:solidFill>
                  <a:schemeClr val="tx1"/>
                </a:solidFill>
              </a:rPr>
              <a:t>head RGB</a:t>
            </a:r>
            <a:endParaRPr lang="en-US" sz="1400" dirty="0"/>
          </a:p>
          <a:p>
            <a:pPr algn="ctr" indent="0" marL="0">
              <a:buNone/>
            </a:pPr>
            <a:r>
              <a:rPr lang="en-US" sz="1400" dirty="0">
                <a:solidFill>
                  <a:schemeClr val="tx1"/>
                </a:solidFill>
              </a:rPr>
              <a:t>96×96 ×2 frames</a:t>
            </a:r>
            <a:endParaRPr lang="en-US" sz="1400" dirty="0"/>
          </a:p>
        </p:txBody>
      </p:sp>
      <p:sp>
        <p:nvSpPr>
          <p:cNvPr id="5" name="in-wrist"/>
          <p:cNvSpPr/>
          <p:nvPr/>
        </p:nvSpPr>
        <p:spPr>
          <a:xfrm>
            <a:off x="548640" y="2834640"/>
            <a:ext cx="1737360" cy="822960"/>
          </a:xfrm>
          <a:prstGeom prst="roundRect">
            <a:avLst>
              <a:gd name="adj" fmla="val 6667"/>
            </a:avLst>
          </a:prstGeom>
          <a:solidFill>
            <a:srgbClr val="E8F0FB"/>
          </a:solidFill>
          <a:ln w="15875">
            <a:solidFill>
              <a:srgbClr val="2F6DB5"/>
            </a:solidFill>
            <a:prstDash val="solid"/>
          </a:ln>
        </p:spPr>
      </p:sp>
      <p:sp>
        <p:nvSpPr>
          <p:cNvPr id="6" name="Text 4"/>
          <p:cNvSpPr txBox="1"/>
          <p:nvPr/>
        </p:nvSpPr>
        <p:spPr>
          <a:xfrm>
            <a:off x="548640" y="2834640"/>
            <a:ext cx="1737360" cy="822960"/>
          </a:xfrm>
          <a:prstGeom prst="rect">
            <a:avLst/>
          </a:prstGeom>
          <a:noFill/>
          <a:ln/>
        </p:spPr>
        <p:txBody>
          <a:bodyPr wrap="square" lIns="0" tIns="0" rIns="0" bIns="0" rtlCol="0" anchor="ctr"/>
          <a:lstStyle/>
          <a:p>
            <a:pPr algn="ctr" indent="0" marL="0">
              <a:buNone/>
            </a:pPr>
            <a:r>
              <a:rPr lang="en-US" sz="1400" dirty="0">
                <a:solidFill>
                  <a:schemeClr val="tx1"/>
                </a:solidFill>
              </a:rPr>
              <a:t>wrist RGB</a:t>
            </a:r>
            <a:endParaRPr lang="en-US" sz="1400" dirty="0"/>
          </a:p>
          <a:p>
            <a:pPr algn="ctr" indent="0" marL="0">
              <a:buNone/>
            </a:pPr>
            <a:r>
              <a:rPr lang="en-US" sz="1400" dirty="0">
                <a:solidFill>
                  <a:schemeClr val="tx1"/>
                </a:solidFill>
              </a:rPr>
              <a:t>64×64 ×2 frames</a:t>
            </a:r>
            <a:endParaRPr lang="en-US" sz="1400" dirty="0"/>
          </a:p>
        </p:txBody>
      </p:sp>
      <p:sp>
        <p:nvSpPr>
          <p:cNvPr id="7" name="enc-head"/>
          <p:cNvSpPr/>
          <p:nvPr/>
        </p:nvSpPr>
        <p:spPr>
          <a:xfrm>
            <a:off x="2743200" y="1554480"/>
            <a:ext cx="2103120" cy="822960"/>
          </a:xfrm>
          <a:prstGeom prst="roundRect">
            <a:avLst>
              <a:gd name="adj" fmla="val 6667"/>
            </a:avLst>
          </a:prstGeom>
          <a:solidFill>
            <a:srgbClr val="F4F5F7"/>
          </a:solidFill>
          <a:ln w="15875">
            <a:solidFill>
              <a:srgbClr val="8A8F98"/>
            </a:solidFill>
            <a:prstDash val="solid"/>
          </a:ln>
        </p:spPr>
      </p:sp>
      <p:sp>
        <p:nvSpPr>
          <p:cNvPr id="8" name="Text 6"/>
          <p:cNvSpPr txBox="1"/>
          <p:nvPr/>
        </p:nvSpPr>
        <p:spPr>
          <a:xfrm>
            <a:off x="2743200" y="1554480"/>
            <a:ext cx="2103120" cy="822960"/>
          </a:xfrm>
          <a:prstGeom prst="rect">
            <a:avLst/>
          </a:prstGeom>
          <a:noFill/>
          <a:ln/>
        </p:spPr>
        <p:txBody>
          <a:bodyPr wrap="square" lIns="0" tIns="0" rIns="0" bIns="0" rtlCol="0" anchor="ctr"/>
          <a:lstStyle/>
          <a:p>
            <a:pPr algn="ctr" indent="0" marL="0">
              <a:buNone/>
            </a:pPr>
            <a:r>
              <a:rPr lang="en-US" sz="1400" dirty="0">
                <a:solidFill>
                  <a:schemeClr val="tx1"/>
                </a:solidFill>
              </a:rPr>
              <a:t>depthwise CNN +</a:t>
            </a:r>
            <a:endParaRPr lang="en-US" sz="1400" dirty="0"/>
          </a:p>
          <a:p>
            <a:pPr algn="ctr" indent="0" marL="0">
              <a:buNone/>
            </a:pPr>
            <a:r>
              <a:rPr lang="en-US" sz="1400" dirty="0">
                <a:solidFill>
                  <a:schemeClr val="tx1"/>
                </a:solidFill>
              </a:rPr>
              <a:t>spatial softmax</a:t>
            </a:r>
            <a:endParaRPr lang="en-US" sz="1400" dirty="0"/>
          </a:p>
        </p:txBody>
      </p:sp>
      <p:sp>
        <p:nvSpPr>
          <p:cNvPr id="9" name="enc-wrist"/>
          <p:cNvSpPr/>
          <p:nvPr/>
        </p:nvSpPr>
        <p:spPr>
          <a:xfrm>
            <a:off x="2743200" y="2834640"/>
            <a:ext cx="2103120" cy="822960"/>
          </a:xfrm>
          <a:prstGeom prst="roundRect">
            <a:avLst>
              <a:gd name="adj" fmla="val 6667"/>
            </a:avLst>
          </a:prstGeom>
          <a:solidFill>
            <a:srgbClr val="F4F5F7"/>
          </a:solidFill>
          <a:ln w="15875">
            <a:solidFill>
              <a:srgbClr val="8A8F98"/>
            </a:solidFill>
            <a:prstDash val="solid"/>
          </a:ln>
        </p:spPr>
      </p:sp>
      <p:sp>
        <p:nvSpPr>
          <p:cNvPr id="10" name="Text 8"/>
          <p:cNvSpPr txBox="1"/>
          <p:nvPr/>
        </p:nvSpPr>
        <p:spPr>
          <a:xfrm>
            <a:off x="2743200" y="2834640"/>
            <a:ext cx="2103120" cy="822960"/>
          </a:xfrm>
          <a:prstGeom prst="rect">
            <a:avLst/>
          </a:prstGeom>
          <a:noFill/>
          <a:ln/>
        </p:spPr>
        <p:txBody>
          <a:bodyPr wrap="square" lIns="0" tIns="0" rIns="0" bIns="0" rtlCol="0" anchor="ctr"/>
          <a:lstStyle/>
          <a:p>
            <a:pPr algn="ctr" indent="0" marL="0">
              <a:buNone/>
            </a:pPr>
            <a:r>
              <a:rPr lang="en-US" sz="1400" dirty="0">
                <a:solidFill>
                  <a:schemeClr val="tx1"/>
                </a:solidFill>
              </a:rPr>
              <a:t>depthwise CNN +</a:t>
            </a:r>
            <a:endParaRPr lang="en-US" sz="1400" dirty="0"/>
          </a:p>
          <a:p>
            <a:pPr algn="ctr" indent="0" marL="0">
              <a:buNone/>
            </a:pPr>
            <a:r>
              <a:rPr lang="en-US" sz="1400" dirty="0">
                <a:solidFill>
                  <a:schemeClr val="tx1"/>
                </a:solidFill>
              </a:rPr>
              <a:t>spatial softmax</a:t>
            </a:r>
            <a:endParaRPr lang="en-US" sz="1400" dirty="0"/>
          </a:p>
        </p:txBody>
      </p:sp>
      <p:sp>
        <p:nvSpPr>
          <p:cNvPr id="11" name="latent"/>
          <p:cNvSpPr/>
          <p:nvPr/>
        </p:nvSpPr>
        <p:spPr>
          <a:xfrm>
            <a:off x="5303520" y="2011680"/>
            <a:ext cx="1463040" cy="1188720"/>
          </a:xfrm>
          <a:prstGeom prst="roundRect">
            <a:avLst>
              <a:gd name="adj" fmla="val 4615"/>
            </a:avLst>
          </a:prstGeom>
          <a:solidFill>
            <a:srgbClr val="FDF0E4"/>
          </a:solidFill>
          <a:ln w="15875">
            <a:solidFill>
              <a:srgbClr val="E07B28"/>
            </a:solidFill>
            <a:prstDash val="solid"/>
          </a:ln>
        </p:spPr>
      </p:sp>
      <p:sp>
        <p:nvSpPr>
          <p:cNvPr id="12" name="Text 10"/>
          <p:cNvSpPr txBox="1"/>
          <p:nvPr/>
        </p:nvSpPr>
        <p:spPr>
          <a:xfrm>
            <a:off x="5303520" y="2011680"/>
            <a:ext cx="1463040" cy="1188720"/>
          </a:xfrm>
          <a:prstGeom prst="rect">
            <a:avLst/>
          </a:prstGeom>
          <a:noFill/>
          <a:ln/>
        </p:spPr>
        <p:txBody>
          <a:bodyPr wrap="square" lIns="0" tIns="0" rIns="0" bIns="0" rtlCol="0" anchor="ctr"/>
          <a:lstStyle/>
          <a:p>
            <a:pPr algn="ctr" indent="0" marL="0">
              <a:buNone/>
            </a:pPr>
            <a:r>
              <a:rPr lang="en-US" sz="1400" b="1" dirty="0">
                <a:solidFill>
                  <a:schemeClr val="tx1"/>
                </a:solidFill>
              </a:rPr>
              <a:t>z ∈ ℝ¹⁶</a:t>
            </a:r>
            <a:endParaRPr lang="en-US" sz="1400" dirty="0"/>
          </a:p>
          <a:p>
            <a:pPr algn="ctr" indent="0" marL="0">
              <a:buNone/>
            </a:pPr>
            <a:r>
              <a:rPr lang="en-US" sz="1400" b="1" dirty="0">
                <a:solidFill>
                  <a:schemeClr val="tx1"/>
                </a:solidFill>
              </a:rPr>
              <a:t>latent</a:t>
            </a:r>
            <a:endParaRPr lang="en-US" sz="1400" dirty="0"/>
          </a:p>
        </p:txBody>
      </p:sp>
      <p:sp>
        <p:nvSpPr>
          <p:cNvPr id="13" name="proprio"/>
          <p:cNvSpPr/>
          <p:nvPr/>
        </p:nvSpPr>
        <p:spPr>
          <a:xfrm>
            <a:off x="548640" y="4206240"/>
            <a:ext cx="4297680" cy="731520"/>
          </a:xfrm>
          <a:prstGeom prst="roundRect">
            <a:avLst>
              <a:gd name="adj" fmla="val 7500"/>
            </a:avLst>
          </a:prstGeom>
          <a:solidFill>
            <a:srgbClr val="F4F5F7"/>
          </a:solidFill>
          <a:ln w="15875">
            <a:solidFill>
              <a:srgbClr val="8A8F98"/>
            </a:solidFill>
            <a:prstDash val="solid"/>
          </a:ln>
        </p:spPr>
      </p:sp>
      <p:sp>
        <p:nvSpPr>
          <p:cNvPr id="14" name="Text 12"/>
          <p:cNvSpPr txBox="1"/>
          <p:nvPr/>
        </p:nvSpPr>
        <p:spPr>
          <a:xfrm>
            <a:off x="548640" y="4206240"/>
            <a:ext cx="4297680" cy="731520"/>
          </a:xfrm>
          <a:prstGeom prst="rect">
            <a:avLst/>
          </a:prstGeom>
          <a:noFill/>
          <a:ln/>
        </p:spPr>
        <p:txBody>
          <a:bodyPr wrap="square" lIns="0" tIns="0" rIns="0" bIns="0" rtlCol="0" anchor="ctr"/>
          <a:lstStyle/>
          <a:p>
            <a:pPr algn="ctr" indent="0" marL="0">
              <a:buNone/>
            </a:pPr>
            <a:r>
              <a:rPr lang="en-US" sz="1400" dirty="0">
                <a:solidFill>
                  <a:schemeClr val="tx1"/>
                </a:solidFill>
              </a:rPr>
              <a:t>joints · gripper width · base velocity · skill command</a:t>
            </a:r>
            <a:endParaRPr lang="en-US" sz="1400" dirty="0"/>
          </a:p>
        </p:txBody>
      </p:sp>
      <p:sp>
        <p:nvSpPr>
          <p:cNvPr id="15" name="gate"/>
          <p:cNvSpPr/>
          <p:nvPr/>
        </p:nvSpPr>
        <p:spPr>
          <a:xfrm>
            <a:off x="7223760" y="1417320"/>
            <a:ext cx="1463040" cy="640080"/>
          </a:xfrm>
          <a:prstGeom prst="roundRect">
            <a:avLst>
              <a:gd name="adj" fmla="val 8571"/>
            </a:avLst>
          </a:prstGeom>
          <a:solidFill>
            <a:srgbClr val="F4F5F7"/>
          </a:solidFill>
          <a:ln w="15875">
            <a:solidFill>
              <a:srgbClr val="8A8F98"/>
            </a:solidFill>
            <a:prstDash val="solid"/>
          </a:ln>
        </p:spPr>
      </p:sp>
      <p:sp>
        <p:nvSpPr>
          <p:cNvPr id="16" name="Text 14"/>
          <p:cNvSpPr txBox="1"/>
          <p:nvPr/>
        </p:nvSpPr>
        <p:spPr>
          <a:xfrm>
            <a:off x="7223760" y="1417320"/>
            <a:ext cx="1463040" cy="640080"/>
          </a:xfrm>
          <a:prstGeom prst="rect">
            <a:avLst/>
          </a:prstGeom>
          <a:noFill/>
          <a:ln/>
        </p:spPr>
        <p:txBody>
          <a:bodyPr wrap="square" lIns="0" tIns="0" rIns="0" bIns="0" rtlCol="0" anchor="ctr"/>
          <a:lstStyle/>
          <a:p>
            <a:pPr algn="ctr" indent="0" marL="0">
              <a:buNone/>
            </a:pPr>
            <a:r>
              <a:rPr lang="en-US" sz="1400" dirty="0">
                <a:solidFill>
                  <a:schemeClr val="tx1"/>
                </a:solidFill>
              </a:rPr>
              <a:t>gate</a:t>
            </a:r>
            <a:endParaRPr lang="en-US" sz="1400" dirty="0"/>
          </a:p>
        </p:txBody>
      </p:sp>
      <p:sp>
        <p:nvSpPr>
          <p:cNvPr id="17" name="experts"/>
          <p:cNvSpPr/>
          <p:nvPr/>
        </p:nvSpPr>
        <p:spPr>
          <a:xfrm>
            <a:off x="7223760" y="2331720"/>
            <a:ext cx="1463040" cy="1188720"/>
          </a:xfrm>
          <a:prstGeom prst="roundRect">
            <a:avLst>
              <a:gd name="adj" fmla="val 4615"/>
            </a:avLst>
          </a:prstGeom>
          <a:solidFill>
            <a:srgbClr val="EAF6EE"/>
          </a:solidFill>
          <a:ln w="15875">
            <a:solidFill>
              <a:srgbClr val="3A9A5B"/>
            </a:solidFill>
            <a:prstDash val="solid"/>
          </a:ln>
        </p:spPr>
      </p:sp>
      <p:sp>
        <p:nvSpPr>
          <p:cNvPr id="18" name="Text 16"/>
          <p:cNvSpPr txBox="1"/>
          <p:nvPr/>
        </p:nvSpPr>
        <p:spPr>
          <a:xfrm>
            <a:off x="7223760" y="2331720"/>
            <a:ext cx="1463040" cy="1188720"/>
          </a:xfrm>
          <a:prstGeom prst="rect">
            <a:avLst/>
          </a:prstGeom>
          <a:noFill/>
          <a:ln/>
        </p:spPr>
        <p:txBody>
          <a:bodyPr wrap="square" lIns="0" tIns="0" rIns="0" bIns="0" rtlCol="0" anchor="ctr"/>
          <a:lstStyle/>
          <a:p>
            <a:pPr algn="ctr" indent="0" marL="0">
              <a:buNone/>
            </a:pPr>
            <a:r>
              <a:rPr lang="en-US" sz="1400" dirty="0">
                <a:solidFill>
                  <a:schemeClr val="tx1"/>
                </a:solidFill>
              </a:rPr>
              <a:t>4 experts</a:t>
            </a:r>
            <a:endParaRPr lang="en-US" sz="1400" dirty="0"/>
          </a:p>
        </p:txBody>
      </p:sp>
      <p:sp>
        <p:nvSpPr>
          <p:cNvPr id="19" name="out"/>
          <p:cNvSpPr/>
          <p:nvPr/>
        </p:nvSpPr>
        <p:spPr>
          <a:xfrm>
            <a:off x="9144000" y="2240280"/>
            <a:ext cx="2468880" cy="1371600"/>
          </a:xfrm>
          <a:prstGeom prst="roundRect">
            <a:avLst>
              <a:gd name="adj" fmla="val 4000"/>
            </a:avLst>
          </a:prstGeom>
          <a:solidFill>
            <a:srgbClr val="F4F5F7"/>
          </a:solidFill>
          <a:ln w="15875">
            <a:solidFill>
              <a:srgbClr val="8A8F98"/>
            </a:solidFill>
            <a:prstDash val="solid"/>
          </a:ln>
        </p:spPr>
      </p:sp>
      <p:sp>
        <p:nvSpPr>
          <p:cNvPr id="20" name="Text 18"/>
          <p:cNvSpPr txBox="1"/>
          <p:nvPr/>
        </p:nvSpPr>
        <p:spPr>
          <a:xfrm>
            <a:off x="9144000" y="2240280"/>
            <a:ext cx="2468880" cy="1371600"/>
          </a:xfrm>
          <a:prstGeom prst="rect">
            <a:avLst/>
          </a:prstGeom>
          <a:noFill/>
          <a:ln/>
        </p:spPr>
        <p:txBody>
          <a:bodyPr wrap="square" lIns="0" tIns="0" rIns="0" bIns="0" rtlCol="0" anchor="ctr"/>
          <a:lstStyle/>
          <a:p>
            <a:pPr algn="ctr" indent="0" marL="0">
              <a:buNone/>
            </a:pPr>
            <a:r>
              <a:rPr lang="en-US" sz="1400" dirty="0">
                <a:solidFill>
                  <a:schemeClr val="tx1"/>
                </a:solidFill>
              </a:rPr>
              <a:t>action chunk K=4</a:t>
            </a:r>
            <a:endParaRPr lang="en-US" sz="1400" dirty="0"/>
          </a:p>
          <a:p>
            <a:pPr algn="ctr" indent="0" marL="0">
              <a:buNone/>
            </a:pPr>
            <a:r>
              <a:rPr lang="en-US" sz="1400" dirty="0">
                <a:solidFill>
                  <a:schemeClr val="tx1"/>
                </a:solidFill>
              </a:rPr>
              <a:t>base v · gripper v · grip</a:t>
            </a:r>
            <a:endParaRPr lang="en-US" sz="1400" dirty="0"/>
          </a:p>
        </p:txBody>
      </p:sp>
      <p:sp>
        <p:nvSpPr>
          <p:cNvPr id="21" name="phase"/>
          <p:cNvSpPr/>
          <p:nvPr/>
        </p:nvSpPr>
        <p:spPr>
          <a:xfrm>
            <a:off x="5303520" y="4206240"/>
            <a:ext cx="2194560" cy="731520"/>
          </a:xfrm>
          <a:prstGeom prst="roundRect">
            <a:avLst>
              <a:gd name="adj" fmla="val 7500"/>
            </a:avLst>
          </a:prstGeom>
          <a:solidFill>
            <a:srgbClr val="F4F5F7"/>
          </a:solidFill>
          <a:ln w="15875">
            <a:solidFill>
              <a:srgbClr val="8A8F98"/>
            </a:solidFill>
            <a:prstDash val="solid"/>
          </a:ln>
        </p:spPr>
      </p:sp>
      <p:sp>
        <p:nvSpPr>
          <p:cNvPr id="22" name="Text 20"/>
          <p:cNvSpPr txBox="1"/>
          <p:nvPr/>
        </p:nvSpPr>
        <p:spPr>
          <a:xfrm>
            <a:off x="5303520" y="4206240"/>
            <a:ext cx="2194560" cy="731520"/>
          </a:xfrm>
          <a:prstGeom prst="rect">
            <a:avLst/>
          </a:prstGeom>
          <a:noFill/>
          <a:ln/>
        </p:spPr>
        <p:txBody>
          <a:bodyPr wrap="square" lIns="0" tIns="0" rIns="0" bIns="0" rtlCol="0" anchor="ctr"/>
          <a:lstStyle/>
          <a:p>
            <a:pPr algn="ctr" indent="0" marL="0">
              <a:buNone/>
            </a:pPr>
            <a:r>
              <a:rPr lang="en-US" sz="1400" dirty="0">
                <a:solidFill>
                  <a:schemeClr val="tx1"/>
                </a:solidFill>
              </a:rPr>
              <a:t>phase head (from z)</a:t>
            </a:r>
            <a:endParaRPr lang="en-US" sz="1400" dirty="0"/>
          </a:p>
        </p:txBody>
      </p:sp>
      <p:sp>
        <p:nvSpPr>
          <p:cNvPr id="23" name="a1"/>
          <p:cNvSpPr/>
          <p:nvPr/>
        </p:nvSpPr>
        <p:spPr>
          <a:xfrm>
            <a:off x="2286000" y="1965960"/>
            <a:ext cx="457200" cy="914"/>
          </a:xfrm>
          <a:prstGeom prst="line">
            <a:avLst/>
          </a:prstGeom>
          <a:noFill/>
          <a:ln w="15875">
            <a:solidFill>
              <a:srgbClr val="6B7280"/>
            </a:solidFill>
            <a:prstDash val="solid"/>
            <a:tailEnd type="triangle"/>
          </a:ln>
        </p:spPr>
      </p:sp>
      <p:sp>
        <p:nvSpPr>
          <p:cNvPr id="24" name="a2"/>
          <p:cNvSpPr/>
          <p:nvPr/>
        </p:nvSpPr>
        <p:spPr>
          <a:xfrm>
            <a:off x="2286000" y="3246120"/>
            <a:ext cx="457200" cy="914"/>
          </a:xfrm>
          <a:prstGeom prst="line">
            <a:avLst/>
          </a:prstGeom>
          <a:noFill/>
          <a:ln w="15875">
            <a:solidFill>
              <a:srgbClr val="6B7280"/>
            </a:solidFill>
            <a:prstDash val="solid"/>
            <a:tailEnd type="triangle"/>
          </a:ln>
        </p:spPr>
      </p:sp>
      <p:sp>
        <p:nvSpPr>
          <p:cNvPr id="25" name="a3"/>
          <p:cNvSpPr/>
          <p:nvPr/>
        </p:nvSpPr>
        <p:spPr>
          <a:xfrm>
            <a:off x="4846320" y="1965960"/>
            <a:ext cx="457200" cy="411480"/>
          </a:xfrm>
          <a:prstGeom prst="line">
            <a:avLst/>
          </a:prstGeom>
          <a:noFill/>
          <a:ln w="15875">
            <a:solidFill>
              <a:srgbClr val="6B7280"/>
            </a:solidFill>
            <a:prstDash val="solid"/>
            <a:tailEnd type="triangle"/>
          </a:ln>
        </p:spPr>
      </p:sp>
      <p:sp>
        <p:nvSpPr>
          <p:cNvPr id="26" name="a4"/>
          <p:cNvSpPr/>
          <p:nvPr/>
        </p:nvSpPr>
        <p:spPr>
          <a:xfrm flipV="1">
            <a:off x="4846320" y="2834640"/>
            <a:ext cx="457200" cy="411480"/>
          </a:xfrm>
          <a:prstGeom prst="line">
            <a:avLst/>
          </a:prstGeom>
          <a:noFill/>
          <a:ln w="15875">
            <a:solidFill>
              <a:srgbClr val="6B7280"/>
            </a:solidFill>
            <a:prstDash val="solid"/>
            <a:tailEnd type="triangle"/>
          </a:ln>
        </p:spPr>
      </p:sp>
      <p:sp>
        <p:nvSpPr>
          <p:cNvPr id="27" name="a5"/>
          <p:cNvSpPr/>
          <p:nvPr/>
        </p:nvSpPr>
        <p:spPr>
          <a:xfrm flipV="1">
            <a:off x="6766560" y="1737360"/>
            <a:ext cx="457200" cy="640080"/>
          </a:xfrm>
          <a:prstGeom prst="line">
            <a:avLst/>
          </a:prstGeom>
          <a:noFill/>
          <a:ln w="15875">
            <a:solidFill>
              <a:srgbClr val="6B7280"/>
            </a:solidFill>
            <a:prstDash val="solid"/>
            <a:tailEnd type="triangle"/>
          </a:ln>
        </p:spPr>
      </p:sp>
      <p:sp>
        <p:nvSpPr>
          <p:cNvPr id="28" name="a6"/>
          <p:cNvSpPr/>
          <p:nvPr/>
        </p:nvSpPr>
        <p:spPr>
          <a:xfrm>
            <a:off x="6766560" y="2743200"/>
            <a:ext cx="457200" cy="182880"/>
          </a:xfrm>
          <a:prstGeom prst="line">
            <a:avLst/>
          </a:prstGeom>
          <a:noFill/>
          <a:ln w="15875">
            <a:solidFill>
              <a:srgbClr val="6B7280"/>
            </a:solidFill>
            <a:prstDash val="solid"/>
            <a:tailEnd type="triangle"/>
          </a:ln>
        </p:spPr>
      </p:sp>
      <p:sp>
        <p:nvSpPr>
          <p:cNvPr id="29" name="a7"/>
          <p:cNvSpPr/>
          <p:nvPr/>
        </p:nvSpPr>
        <p:spPr>
          <a:xfrm>
            <a:off x="8686800" y="2926080"/>
            <a:ext cx="457200" cy="914"/>
          </a:xfrm>
          <a:prstGeom prst="line">
            <a:avLst/>
          </a:prstGeom>
          <a:noFill/>
          <a:ln w="15875">
            <a:solidFill>
              <a:srgbClr val="6B7280"/>
            </a:solidFill>
            <a:prstDash val="solid"/>
            <a:tailEnd type="triangle"/>
          </a:ln>
        </p:spPr>
      </p:sp>
      <p:sp>
        <p:nvSpPr>
          <p:cNvPr id="30" name="a8"/>
          <p:cNvSpPr/>
          <p:nvPr/>
        </p:nvSpPr>
        <p:spPr>
          <a:xfrm>
            <a:off x="6035040" y="3200400"/>
            <a:ext cx="274320" cy="1005840"/>
          </a:xfrm>
          <a:prstGeom prst="line">
            <a:avLst/>
          </a:prstGeom>
          <a:noFill/>
          <a:ln w="15875">
            <a:solidFill>
              <a:srgbClr val="6B7280"/>
            </a:solidFill>
            <a:prstDash val="solid"/>
            <a:tailEnd type="triangle"/>
          </a:ln>
        </p:spPr>
      </p:sp>
      <p:sp>
        <p:nvSpPr>
          <p:cNvPr id="31" name="a9"/>
          <p:cNvSpPr/>
          <p:nvPr/>
        </p:nvSpPr>
        <p:spPr>
          <a:xfrm flipV="1">
            <a:off x="4846320" y="3520440"/>
            <a:ext cx="2377440" cy="1051560"/>
          </a:xfrm>
          <a:prstGeom prst="line">
            <a:avLst/>
          </a:prstGeom>
          <a:noFill/>
          <a:ln w="15875">
            <a:solidFill>
              <a:srgbClr val="6B7280"/>
            </a:solidFill>
            <a:prstDash val="solid"/>
            <a:tailEnd type="triangle"/>
          </a:ln>
        </p:spPr>
      </p:sp>
      <p:sp>
        <p:nvSpPr>
          <p:cNvPr id="32" name="Text 30"/>
          <p:cNvSpPr txBox="1"/>
          <p:nvPr/>
        </p:nvSpPr>
        <p:spPr>
          <a:xfrm>
            <a:off x="548640" y="5120640"/>
            <a:ext cx="11064240" cy="155448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2"/>
                </a:solidFill>
              </a:rPr>
              <a:t>255,249 parameters · two-thirds in the experts</a:t>
            </a:r>
            <a:endParaRPr lang="en-US" sz="1500" dirty="0"/>
          </a:p>
          <a:p>
            <a:pPr marL="342900" indent="-342900">
              <a:spcAft>
                <a:spcPts val="300"/>
              </a:spcAft>
              <a:buSzPct val="100000"/>
              <a:buChar char="•"/>
            </a:pPr>
            <a:r>
              <a:rPr lang="en-US" sz="1500" dirty="0">
                <a:solidFill>
                  <a:schemeClr val="tx2"/>
                </a:solidFill>
              </a:rPr>
              <a:t>Rotation is never an output: heading and wrist angle are held by fixed controllers</a:t>
            </a:r>
            <a:endParaRPr lang="en-US" sz="1500" dirty="0"/>
          </a:p>
          <a:p>
            <a:pPr marL="342900" indent="-342900">
              <a:spcAft>
                <a:spcPts val="300"/>
              </a:spcAft>
              <a:buSzPct val="100000"/>
              <a:buChar char="•"/>
            </a:pPr>
            <a:r>
              <a:rPr lang="en-US" sz="1500" dirty="0">
                <a:solidFill>
                  <a:schemeClr val="tx2"/>
                </a:solidFill>
              </a:rPr>
              <a:t>Whole forward pass captured as one CUDA graph: 7.2 ms → 1.5 ms per decision</a:t>
            </a:r>
            <a:endParaRPr lang="en-US" sz="1500" dirty="0"/>
          </a:p>
          <a:p>
            <a:pPr marL="342900" indent="-342900">
              <a:spcAft>
                <a:spcPts val="300"/>
              </a:spcAft>
              <a:buSzPct val="100000"/>
              <a:buChar char="•"/>
            </a:pPr>
            <a:r>
              <a:rPr lang="en-US" sz="1500" dirty="0">
                <a:solidFill>
                  <a:schemeClr val="tx2"/>
                </a:solidFill>
              </a:rPr>
              <a:t>Not PCA: z is trained with the action, so it keeps what the robot needs to act, not what varies most in the pixels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Training: imitation, then let the student make mistakes</a:t>
            </a:r>
            <a:endParaRPr lang="en-US" sz="3200" dirty="0"/>
          </a:p>
        </p:txBody>
      </p:sp>
      <p:sp>
        <p:nvSpPr>
          <p:cNvPr id="3" name="step-1"/>
          <p:cNvSpPr/>
          <p:nvPr/>
        </p:nvSpPr>
        <p:spPr>
          <a:xfrm>
            <a:off x="548640" y="1600200"/>
            <a:ext cx="685800" cy="685800"/>
          </a:xfrm>
          <a:prstGeom prst="ellipse">
            <a:avLst/>
          </a:prstGeom>
          <a:solidFill>
            <a:schemeClr val="accent1"/>
          </a:solidFill>
          <a:ln/>
        </p:spPr>
      </p:sp>
      <p:sp>
        <p:nvSpPr>
          <p:cNvPr id="4" name="Text 2"/>
          <p:cNvSpPr txBox="1"/>
          <p:nvPr/>
        </p:nvSpPr>
        <p:spPr>
          <a:xfrm>
            <a:off x="548640" y="1600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548640" y="2514600"/>
            <a:ext cx="2560320" cy="457200"/>
          </a:xfrm>
          <a:prstGeom prst="rect">
            <a:avLst/>
          </a:prstGeom>
          <a:noFill/>
          <a:ln/>
        </p:spPr>
        <p:txBody>
          <a:bodyPr wrap="square" lIns="0" tIns="0" rIns="0" bIns="0" rtlCol="0" anchor="t"/>
          <a:lstStyle/>
          <a:p>
            <a:pPr indent="0" marL="0">
              <a:buNone/>
            </a:pPr>
            <a:r>
              <a:rPr lang="en-US" sz="1800" b="1" dirty="0">
                <a:solidFill>
                  <a:schemeClr val="tx1"/>
                </a:solidFill>
              </a:rPr>
              <a:t>Teacher episodes</a:t>
            </a:r>
            <a:endParaRPr lang="en-US" sz="1800" dirty="0"/>
          </a:p>
        </p:txBody>
      </p:sp>
      <p:sp>
        <p:nvSpPr>
          <p:cNvPr id="6" name="Text 4"/>
          <p:cNvSpPr txBox="1"/>
          <p:nvPr/>
        </p:nvSpPr>
        <p:spPr>
          <a:xfrm>
            <a:off x="548640" y="3017520"/>
            <a:ext cx="2560320" cy="1463040"/>
          </a:xfrm>
          <a:prstGeom prst="rect">
            <a:avLst/>
          </a:prstGeom>
          <a:noFill/>
          <a:ln/>
        </p:spPr>
        <p:txBody>
          <a:bodyPr wrap="square" lIns="0" tIns="0" rIns="0" bIns="0" rtlCol="0" anchor="t"/>
          <a:lstStyle/>
          <a:p>
            <a:pPr indent="0" marL="0">
              <a:buNone/>
            </a:pPr>
            <a:r>
              <a:rPr lang="en-US" sz="1400" dirty="0">
                <a:solidFill>
                  <a:schemeClr val="tx2"/>
                </a:solidFill>
              </a:rPr>
              <a:t>scripted controller with true poses; Gaussian action noise (DART) so recoveries appear</a:t>
            </a:r>
            <a:endParaRPr lang="en-US" sz="1400" dirty="0"/>
          </a:p>
        </p:txBody>
      </p:sp>
      <p:sp>
        <p:nvSpPr>
          <p:cNvPr id="7" name="step-2"/>
          <p:cNvSpPr/>
          <p:nvPr/>
        </p:nvSpPr>
        <p:spPr>
          <a:xfrm>
            <a:off x="3383280" y="1600200"/>
            <a:ext cx="685800" cy="685800"/>
          </a:xfrm>
          <a:prstGeom prst="ellipse">
            <a:avLst/>
          </a:prstGeom>
          <a:solidFill>
            <a:schemeClr val="accent1"/>
          </a:solidFill>
          <a:ln/>
        </p:spPr>
      </p:sp>
      <p:sp>
        <p:nvSpPr>
          <p:cNvPr id="8" name="Text 6"/>
          <p:cNvSpPr txBox="1"/>
          <p:nvPr/>
        </p:nvSpPr>
        <p:spPr>
          <a:xfrm>
            <a:off x="3383280" y="1600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3383280" y="2514600"/>
            <a:ext cx="2560320" cy="457200"/>
          </a:xfrm>
          <a:prstGeom prst="rect">
            <a:avLst/>
          </a:prstGeom>
          <a:noFill/>
          <a:ln/>
        </p:spPr>
        <p:txBody>
          <a:bodyPr wrap="square" lIns="0" tIns="0" rIns="0" bIns="0" rtlCol="0" anchor="t"/>
          <a:lstStyle/>
          <a:p>
            <a:pPr indent="0" marL="0">
              <a:buNone/>
            </a:pPr>
            <a:r>
              <a:rPr lang="en-US" sz="1800" b="1" dirty="0">
                <a:solidFill>
                  <a:schemeClr val="tx1"/>
                </a:solidFill>
              </a:rPr>
              <a:t>Behaviour cloning</a:t>
            </a:r>
            <a:endParaRPr lang="en-US" sz="1800" dirty="0"/>
          </a:p>
        </p:txBody>
      </p:sp>
      <p:sp>
        <p:nvSpPr>
          <p:cNvPr id="10" name="Text 8"/>
          <p:cNvSpPr txBox="1"/>
          <p:nvPr/>
        </p:nvSpPr>
        <p:spPr>
          <a:xfrm>
            <a:off x="3383280" y="3017520"/>
            <a:ext cx="2560320" cy="1463040"/>
          </a:xfrm>
          <a:prstGeom prst="rect">
            <a:avLst/>
          </a:prstGeom>
          <a:noFill/>
          <a:ln/>
        </p:spPr>
        <p:txBody>
          <a:bodyPr wrap="square" lIns="0" tIns="0" rIns="0" bIns="0" rtlCol="0" anchor="t"/>
          <a:lstStyle/>
          <a:p>
            <a:pPr indent="0" marL="0">
              <a:buNone/>
            </a:pPr>
            <a:r>
              <a:rPr lang="en-US" sz="1400" dirty="0">
                <a:solidFill>
                  <a:schemeClr val="tx2"/>
                </a:solidFill>
              </a:rPr>
              <a:t>smooth-L1 on action chunks, BCE on grip, phase CE, gate balance; ±4 px shift + colour jitter</a:t>
            </a:r>
            <a:endParaRPr lang="en-US" sz="1400" dirty="0"/>
          </a:p>
        </p:txBody>
      </p:sp>
      <p:sp>
        <p:nvSpPr>
          <p:cNvPr id="11" name="step-3"/>
          <p:cNvSpPr/>
          <p:nvPr/>
        </p:nvSpPr>
        <p:spPr>
          <a:xfrm>
            <a:off x="6217920" y="1600200"/>
            <a:ext cx="685800" cy="685800"/>
          </a:xfrm>
          <a:prstGeom prst="ellipse">
            <a:avLst/>
          </a:prstGeom>
          <a:solidFill>
            <a:schemeClr val="accent1"/>
          </a:solidFill>
          <a:ln/>
        </p:spPr>
      </p:sp>
      <p:sp>
        <p:nvSpPr>
          <p:cNvPr id="12" name="Text 10"/>
          <p:cNvSpPr txBox="1"/>
          <p:nvPr/>
        </p:nvSpPr>
        <p:spPr>
          <a:xfrm>
            <a:off x="6217920" y="1600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6217920" y="2514600"/>
            <a:ext cx="2560320" cy="457200"/>
          </a:xfrm>
          <a:prstGeom prst="rect">
            <a:avLst/>
          </a:prstGeom>
          <a:noFill/>
          <a:ln/>
        </p:spPr>
        <p:txBody>
          <a:bodyPr wrap="square" lIns="0" tIns="0" rIns="0" bIns="0" rtlCol="0" anchor="t"/>
          <a:lstStyle/>
          <a:p>
            <a:pPr indent="0" marL="0">
              <a:buNone/>
            </a:pPr>
            <a:r>
              <a:rPr lang="en-US" sz="1800" b="1" dirty="0">
                <a:solidFill>
                  <a:schemeClr val="tx1"/>
                </a:solidFill>
              </a:rPr>
              <a:t>DAgger rounds</a:t>
            </a:r>
            <a:endParaRPr lang="en-US" sz="1800" dirty="0"/>
          </a:p>
        </p:txBody>
      </p:sp>
      <p:sp>
        <p:nvSpPr>
          <p:cNvPr id="14" name="Text 12"/>
          <p:cNvSpPr txBox="1"/>
          <p:nvPr/>
        </p:nvSpPr>
        <p:spPr>
          <a:xfrm>
            <a:off x="6217920" y="3017520"/>
            <a:ext cx="2560320" cy="1463040"/>
          </a:xfrm>
          <a:prstGeom prst="rect">
            <a:avLst/>
          </a:prstGeom>
          <a:noFill/>
          <a:ln/>
        </p:spPr>
        <p:txBody>
          <a:bodyPr wrap="square" lIns="0" tIns="0" rIns="0" bIns="0" rtlCol="0" anchor="t"/>
          <a:lstStyle/>
          <a:p>
            <a:pPr indent="0" marL="0">
              <a:buNone/>
            </a:pPr>
            <a:r>
              <a:rPr lang="en-US" sz="1400" dirty="0">
                <a:solidFill>
                  <a:schemeClr val="tx2"/>
                </a:solidFill>
              </a:rPr>
              <a:t>student executes each step with probability 1−β; teacher labels every visited state</a:t>
            </a:r>
            <a:endParaRPr lang="en-US" sz="1400" dirty="0"/>
          </a:p>
        </p:txBody>
      </p:sp>
      <p:sp>
        <p:nvSpPr>
          <p:cNvPr id="15" name="step-4"/>
          <p:cNvSpPr/>
          <p:nvPr/>
        </p:nvSpPr>
        <p:spPr>
          <a:xfrm>
            <a:off x="9052560" y="1600200"/>
            <a:ext cx="685800" cy="685800"/>
          </a:xfrm>
          <a:prstGeom prst="ellipse">
            <a:avLst/>
          </a:prstGeom>
          <a:solidFill>
            <a:schemeClr val="accent1"/>
          </a:solidFill>
          <a:ln/>
        </p:spPr>
      </p:sp>
      <p:sp>
        <p:nvSpPr>
          <p:cNvPr id="16" name="Text 14"/>
          <p:cNvSpPr txBox="1"/>
          <p:nvPr/>
        </p:nvSpPr>
        <p:spPr>
          <a:xfrm>
            <a:off x="9052560" y="16002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Text 15"/>
          <p:cNvSpPr txBox="1"/>
          <p:nvPr/>
        </p:nvSpPr>
        <p:spPr>
          <a:xfrm>
            <a:off x="9052560" y="2514600"/>
            <a:ext cx="2560320" cy="457200"/>
          </a:xfrm>
          <a:prstGeom prst="rect">
            <a:avLst/>
          </a:prstGeom>
          <a:noFill/>
          <a:ln/>
        </p:spPr>
        <p:txBody>
          <a:bodyPr wrap="square" lIns="0" tIns="0" rIns="0" bIns="0" rtlCol="0" anchor="t"/>
          <a:lstStyle/>
          <a:p>
            <a:pPr indent="0" marL="0">
              <a:buNone/>
            </a:pPr>
            <a:r>
              <a:rPr lang="en-US" sz="1800" b="1" dirty="0">
                <a:solidFill>
                  <a:schemeClr val="tx1"/>
                </a:solidFill>
              </a:rPr>
              <a:t>Specialists</a:t>
            </a:r>
            <a:endParaRPr lang="en-US" sz="1800" dirty="0"/>
          </a:p>
        </p:txBody>
      </p:sp>
      <p:sp>
        <p:nvSpPr>
          <p:cNvPr id="18" name="Text 16"/>
          <p:cNvSpPr txBox="1"/>
          <p:nvPr/>
        </p:nvSpPr>
        <p:spPr>
          <a:xfrm>
            <a:off x="9052560" y="3017520"/>
            <a:ext cx="2560320" cy="1463040"/>
          </a:xfrm>
          <a:prstGeom prst="rect">
            <a:avLst/>
          </a:prstGeom>
          <a:noFill/>
          <a:ln/>
        </p:spPr>
        <p:txBody>
          <a:bodyPr wrap="square" lIns="0" tIns="0" rIns="0" bIns="0" rtlCol="0" anchor="t"/>
          <a:lstStyle/>
          <a:p>
            <a:pPr indent="0" marL="0">
              <a:buNone/>
            </a:pPr>
            <a:r>
              <a:rPr lang="en-US" sz="1400" dirty="0">
                <a:solidFill>
                  <a:schemeClr val="tx2"/>
                </a:solidFill>
              </a:rPr>
              <a:t>pick-focused and drive-focused rounds; the executor routes each skill to its checkpoint</a:t>
            </a:r>
            <a:endParaRPr lang="en-US" sz="1400" dirty="0"/>
          </a:p>
        </p:txBody>
      </p:sp>
      <p:sp>
        <p:nvSpPr>
          <p:cNvPr id="19" name="action-card"/>
          <p:cNvSpPr/>
          <p:nvPr/>
        </p:nvSpPr>
        <p:spPr>
          <a:xfrm>
            <a:off x="548640" y="4709160"/>
            <a:ext cx="11064240" cy="1280160"/>
          </a:xfrm>
          <a:prstGeom prst="roundRect">
            <a:avLst>
              <a:gd name="adj" fmla="val 5714"/>
            </a:avLst>
          </a:prstGeom>
          <a:solidFill>
            <a:schemeClr val="bg2"/>
          </a:solidFill>
          <a:ln/>
        </p:spPr>
      </p:sp>
      <p:sp>
        <p:nvSpPr>
          <p:cNvPr id="20" name="Text 18"/>
          <p:cNvSpPr txBox="1"/>
          <p:nvPr/>
        </p:nvSpPr>
        <p:spPr>
          <a:xfrm>
            <a:off x="822960" y="4864608"/>
            <a:ext cx="10515600" cy="1005840"/>
          </a:xfrm>
          <a:prstGeom prst="rect">
            <a:avLst/>
          </a:prstGeom>
          <a:noFill/>
          <a:ln/>
        </p:spPr>
        <p:txBody>
          <a:bodyPr wrap="square" lIns="0" tIns="0" rIns="0" bIns="0" rtlCol="0" anchor="t"/>
          <a:lstStyle/>
          <a:p>
            <a:pPr indent="0" marL="0">
              <a:buNone/>
            </a:pPr>
            <a:r>
              <a:rPr lang="en-US" sz="1700" b="1" dirty="0">
                <a:solidFill>
                  <a:schemeClr val="tx1"/>
                </a:solidFill>
              </a:rPr>
              <a:t>Action space mattered more than architecture</a:t>
            </a:r>
            <a:endParaRPr lang="en-US" sz="1500" dirty="0"/>
          </a:p>
          <a:p>
            <a:pPr indent="0" marL="0">
              <a:buNone/>
            </a:pPr>
            <a:r>
              <a:rPr lang="en-US" sz="1500" dirty="0">
                <a:solidFill>
                  <a:schemeClr val="tx2"/>
                </a:solidFill>
              </a:rPr>
              <a:t>With joint-angle deltas, a 5 mm grasp correction is ~0.005 rad, the size of the network's own error, so the student never closed on objects. Gripper velocity in the arm frame turns the same correction into a learnable signal.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cameras lied before the model did</a:t>
            </a:r>
            <a:endParaRPr lang="en-US" sz="3200" dirty="0"/>
          </a:p>
        </p:txBody>
      </p:sp>
      <p:pic>
        <p:nvPicPr>
          <p:cNvPr id="3" name="integrity" descr="C:\Users\mirai\latent_robot_demo\paper\figures\frame_integrity.png">    </p:cNvPr>
          <p:cNvPicPr>
            <a:picLocks noChangeAspect="1"/>
          </p:cNvPicPr>
          <p:nvPr/>
        </p:nvPicPr>
        <p:blipFill>
          <a:blip r:embed="rId1"/>
          <a:stretch>
            <a:fillRect/>
          </a:stretch>
        </p:blipFill>
        <p:spPr>
          <a:xfrm>
            <a:off x="548640" y="1371600"/>
            <a:ext cx="5852160" cy="3447288"/>
          </a:xfrm>
          <a:prstGeom prst="rect">
            <a:avLst/>
          </a:prstGeom>
        </p:spPr>
      </p:pic>
      <p:pic>
        <p:nvPicPr>
          <p:cNvPr id="4" name="flat" descr="C:\Users\mirai\latent_robot_demo\paper\figures\flat_example.png">    </p:cNvPr>
          <p:cNvPicPr>
            <a:picLocks noChangeAspect="1"/>
          </p:cNvPicPr>
          <p:nvPr/>
        </p:nvPicPr>
        <p:blipFill>
          <a:blip r:embed="rId2"/>
          <a:stretch>
            <a:fillRect/>
          </a:stretch>
        </p:blipFill>
        <p:spPr>
          <a:xfrm>
            <a:off x="1463040" y="4892040"/>
            <a:ext cx="3291840" cy="1773936"/>
          </a:xfrm>
          <a:prstGeom prst="rect">
            <a:avLst/>
          </a:prstGeom>
        </p:spPr>
      </p:pic>
      <p:sp>
        <p:nvSpPr>
          <p:cNvPr id="5" name="fail-0"/>
          <p:cNvSpPr/>
          <p:nvPr/>
        </p:nvSpPr>
        <p:spPr>
          <a:xfrm>
            <a:off x="6766560" y="1417320"/>
            <a:ext cx="4846320" cy="1463040"/>
          </a:xfrm>
          <a:prstGeom prst="roundRect">
            <a:avLst>
              <a:gd name="adj" fmla="val 5000"/>
            </a:avLst>
          </a:prstGeom>
          <a:solidFill>
            <a:schemeClr val="bg2"/>
          </a:solidFill>
          <a:ln/>
        </p:spPr>
      </p:sp>
      <p:sp>
        <p:nvSpPr>
          <p:cNvPr id="6" name="Text 2"/>
          <p:cNvSpPr txBox="1"/>
          <p:nvPr/>
        </p:nvSpPr>
        <p:spPr>
          <a:xfrm>
            <a:off x="6995160" y="1554480"/>
            <a:ext cx="4480560" cy="411480"/>
          </a:xfrm>
          <a:prstGeom prst="rect">
            <a:avLst/>
          </a:prstGeom>
          <a:noFill/>
          <a:ln/>
        </p:spPr>
        <p:txBody>
          <a:bodyPr wrap="square" lIns="0" tIns="0" rIns="0" bIns="0" rtlCol="0" anchor="t"/>
          <a:lstStyle/>
          <a:p>
            <a:pPr indent="0" marL="0">
              <a:buNone/>
            </a:pPr>
            <a:r>
              <a:rPr lang="en-US" sz="1800" b="1" dirty="0">
                <a:solidFill>
                  <a:schemeClr val="accent6"/>
                </a:solidFill>
              </a:rPr>
              <a:t>~1 m near clip</a:t>
            </a:r>
            <a:endParaRPr lang="en-US" sz="1800" dirty="0"/>
          </a:p>
        </p:txBody>
      </p:sp>
      <p:sp>
        <p:nvSpPr>
          <p:cNvPr id="7" name="Text 3"/>
          <p:cNvSpPr txBox="1"/>
          <p:nvPr/>
        </p:nvSpPr>
        <p:spPr>
          <a:xfrm>
            <a:off x="6995160" y="2011680"/>
            <a:ext cx="4480560" cy="777240"/>
          </a:xfrm>
          <a:prstGeom prst="rect">
            <a:avLst/>
          </a:prstGeom>
          <a:noFill/>
          <a:ln/>
        </p:spPr>
        <p:txBody>
          <a:bodyPr wrap="square" lIns="0" tIns="0" rIns="0" bIns="0" rtlCol="0" anchor="t"/>
          <a:lstStyle/>
          <a:p>
            <a:pPr indent="0" marL="0">
              <a:buNone/>
            </a:pPr>
            <a:r>
              <a:rPr lang="en-US" sz="1400" dirty="0">
                <a:solidFill>
                  <a:schemeClr val="tx2"/>
                </a:solidFill>
              </a:rPr>
              <a:t>default camera clipping hid the table, floor and arm right in front of the robot</a:t>
            </a:r>
            <a:endParaRPr lang="en-US" sz="1400" dirty="0"/>
          </a:p>
        </p:txBody>
      </p:sp>
      <p:sp>
        <p:nvSpPr>
          <p:cNvPr id="8" name="fail-1"/>
          <p:cNvSpPr/>
          <p:nvPr/>
        </p:nvSpPr>
        <p:spPr>
          <a:xfrm>
            <a:off x="6766560" y="3108960"/>
            <a:ext cx="4846320" cy="1463040"/>
          </a:xfrm>
          <a:prstGeom prst="roundRect">
            <a:avLst>
              <a:gd name="adj" fmla="val 5000"/>
            </a:avLst>
          </a:prstGeom>
          <a:solidFill>
            <a:schemeClr val="bg2"/>
          </a:solidFill>
          <a:ln/>
        </p:spPr>
      </p:sp>
      <p:sp>
        <p:nvSpPr>
          <p:cNvPr id="9" name="Text 5"/>
          <p:cNvSpPr txBox="1"/>
          <p:nvPr/>
        </p:nvSpPr>
        <p:spPr>
          <a:xfrm>
            <a:off x="6995160" y="3246120"/>
            <a:ext cx="4480560" cy="411480"/>
          </a:xfrm>
          <a:prstGeom prst="rect">
            <a:avLst/>
          </a:prstGeom>
          <a:noFill/>
          <a:ln/>
        </p:spPr>
        <p:txBody>
          <a:bodyPr wrap="square" lIns="0" tIns="0" rIns="0" bIns="0" rtlCol="0" anchor="t"/>
          <a:lstStyle/>
          <a:p>
            <a:pPr indent="0" marL="0">
              <a:buNone/>
            </a:pPr>
            <a:r>
              <a:rPr lang="en-US" sz="1800" b="1" dirty="0">
                <a:solidFill>
                  <a:schemeClr val="accent6"/>
                </a:solidFill>
              </a:rPr>
              <a:t>Unfinished frames</a:t>
            </a:r>
            <a:endParaRPr lang="en-US" sz="1800" dirty="0"/>
          </a:p>
        </p:txBody>
      </p:sp>
      <p:sp>
        <p:nvSpPr>
          <p:cNvPr id="10" name="Text 6"/>
          <p:cNvSpPr txBox="1"/>
          <p:nvPr/>
        </p:nvSpPr>
        <p:spPr>
          <a:xfrm>
            <a:off x="6995160" y="3703320"/>
            <a:ext cx="4480560" cy="777240"/>
          </a:xfrm>
          <a:prstGeom prst="rect">
            <a:avLst/>
          </a:prstGeom>
          <a:noFill/>
          <a:ln/>
        </p:spPr>
        <p:txBody>
          <a:bodyPr wrap="square" lIns="0" tIns="0" rIns="0" bIns="0" rtlCol="0" anchor="t"/>
          <a:lstStyle/>
          <a:p>
            <a:pPr indent="0" marL="0">
              <a:buNone/>
            </a:pPr>
            <a:r>
              <a:rPr lang="en-US" sz="1400" dirty="0">
                <a:solidFill>
                  <a:schemeClr val="tx2"/>
                </a:solidFill>
              </a:rPr>
              <a:t>two renderers on one GPU: 100% / 54% sky-only frames; 47% in one DAgger round</a:t>
            </a:r>
            <a:endParaRPr lang="en-US" sz="1400" dirty="0"/>
          </a:p>
        </p:txBody>
      </p:sp>
      <p:sp>
        <p:nvSpPr>
          <p:cNvPr id="11" name="fail-2"/>
          <p:cNvSpPr/>
          <p:nvPr/>
        </p:nvSpPr>
        <p:spPr>
          <a:xfrm>
            <a:off x="6766560" y="4800600"/>
            <a:ext cx="4846320" cy="1463040"/>
          </a:xfrm>
          <a:prstGeom prst="roundRect">
            <a:avLst>
              <a:gd name="adj" fmla="val 5000"/>
            </a:avLst>
          </a:prstGeom>
          <a:solidFill>
            <a:schemeClr val="bg2"/>
          </a:solidFill>
          <a:ln/>
        </p:spPr>
      </p:sp>
      <p:sp>
        <p:nvSpPr>
          <p:cNvPr id="12" name="Text 8"/>
          <p:cNvSpPr txBox="1"/>
          <p:nvPr/>
        </p:nvSpPr>
        <p:spPr>
          <a:xfrm>
            <a:off x="6995160" y="4937760"/>
            <a:ext cx="4480560" cy="411480"/>
          </a:xfrm>
          <a:prstGeom prst="rect">
            <a:avLst/>
          </a:prstGeom>
          <a:noFill/>
          <a:ln/>
        </p:spPr>
        <p:txBody>
          <a:bodyPr wrap="square" lIns="0" tIns="0" rIns="0" bIns="0" rtlCol="0" anchor="t"/>
          <a:lstStyle/>
          <a:p>
            <a:pPr indent="0" marL="0">
              <a:buNone/>
            </a:pPr>
            <a:r>
              <a:rPr lang="en-US" sz="1800" b="1" dirty="0">
                <a:solidFill>
                  <a:schemeClr val="accent6"/>
                </a:solidFill>
              </a:rPr>
              <a:t>Black cameras</a:t>
            </a:r>
            <a:endParaRPr lang="en-US" sz="1800" dirty="0"/>
          </a:p>
        </p:txBody>
      </p:sp>
      <p:sp>
        <p:nvSpPr>
          <p:cNvPr id="13" name="Text 9"/>
          <p:cNvSpPr txBox="1"/>
          <p:nvPr/>
        </p:nvSpPr>
        <p:spPr>
          <a:xfrm>
            <a:off x="6995160" y="5394960"/>
            <a:ext cx="4480560" cy="777240"/>
          </a:xfrm>
          <a:prstGeom prst="rect">
            <a:avLst/>
          </a:prstGeom>
          <a:noFill/>
          <a:ln/>
        </p:spPr>
        <p:txBody>
          <a:bodyPr wrap="square" lIns="0" tIns="0" rIns="0" bIns="0" rtlCol="0" anchor="t"/>
          <a:lstStyle/>
          <a:p>
            <a:pPr indent="0" marL="0">
              <a:buNone/>
            </a:pPr>
            <a:r>
              <a:rPr lang="en-US" sz="1400" dirty="0">
                <a:solidFill>
                  <a:schemeClr val="tx2"/>
                </a:solidFill>
              </a:rPr>
              <a:t>120 pick episodes with a black wrist camera, silently dropped by the training filter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The 16-D latent organises the task</a:t>
            </a:r>
            <a:endParaRPr lang="en-US" sz="3200" dirty="0"/>
          </a:p>
        </p:txBody>
      </p:sp>
      <p:pic>
        <p:nvPicPr>
          <p:cNvPr id="3" name="tsne" descr="C:\Users\mirai\latent_robot_demo\paper\figures\latent_tsne.png">    </p:cNvPr>
          <p:cNvPicPr>
            <a:picLocks noChangeAspect="1"/>
          </p:cNvPicPr>
          <p:nvPr/>
        </p:nvPicPr>
        <p:blipFill>
          <a:blip r:embed="rId1"/>
          <a:srcRect l="0" r="0" t="0" b="0"/>
          <a:stretch/>
        </p:blipFill>
        <p:spPr>
          <a:xfrm>
            <a:off x="548640" y="1280160"/>
            <a:ext cx="5760720" cy="4754880"/>
          </a:xfrm>
          <a:prstGeom prst="rect">
            <a:avLst/>
          </a:prstGeom>
        </p:spPr>
      </p:pic>
      <p:pic>
        <p:nvPicPr>
          <p:cNvPr id="4" name="confusion" descr="C:\Users\mirai\latent_robot_demo\paper\figures\phase_confusion.png">    </p:cNvPr>
          <p:cNvPicPr>
            <a:picLocks noChangeAspect="1"/>
          </p:cNvPicPr>
          <p:nvPr/>
        </p:nvPicPr>
        <p:blipFill>
          <a:blip r:embed="rId2"/>
          <a:srcRect l="0" r="0" t="0" b="0"/>
          <a:stretch/>
        </p:blipFill>
        <p:spPr>
          <a:xfrm>
            <a:off x="6492240" y="1280160"/>
            <a:ext cx="5120640" cy="4251960"/>
          </a:xfrm>
          <a:prstGeom prst="rect">
            <a:avLst/>
          </a:prstGeom>
        </p:spPr>
      </p:pic>
      <p:sp>
        <p:nvSpPr>
          <p:cNvPr id="5" name="Text 1"/>
          <p:cNvSpPr txBox="1"/>
          <p:nvPr/>
        </p:nvSpPr>
        <p:spPr>
          <a:xfrm>
            <a:off x="6492240" y="5623560"/>
            <a:ext cx="5120640" cy="914400"/>
          </a:xfrm>
          <a:prstGeom prst="rect">
            <a:avLst/>
          </a:prstGeom>
          <a:noFill/>
          <a:ln/>
        </p:spPr>
        <p:txBody>
          <a:bodyPr wrap="square" lIns="0" tIns="0" rIns="0" bIns="0" rtlCol="0" anchor="t"/>
          <a:lstStyle/>
          <a:p>
            <a:pPr indent="0" marL="0">
              <a:buNone/>
            </a:pPr>
            <a:r>
              <a:rPr lang="en-US" sz="1400" dirty="0">
                <a:solidFill>
                  <a:schemeClr val="tx2"/>
                </a:solidFill>
              </a:rPr>
              <a:t>Driving and manipulation separate; pick phases form an ordered curve. A linear head on z recovers the teacher's phase on 95% of frames, confusing only neighbouring phases.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Where the policy looks</a:t>
            </a:r>
            <a:endParaRPr lang="en-US" sz="3200" dirty="0"/>
          </a:p>
        </p:txBody>
      </p:sp>
      <p:pic>
        <p:nvPicPr>
          <p:cNvPr id="3" name="keypoints" descr="C:\Users\mirai\latent_robot_demo\paper\figures\keypoints.png">    </p:cNvPr>
          <p:cNvPicPr>
            <a:picLocks noChangeAspect="1"/>
          </p:cNvPicPr>
          <p:nvPr/>
        </p:nvPicPr>
        <p:blipFill>
          <a:blip r:embed="rId1"/>
          <a:srcRect l="0" r="0" t="0" b="0"/>
          <a:stretch/>
        </p:blipFill>
        <p:spPr>
          <a:xfrm>
            <a:off x="1280160" y="1234440"/>
            <a:ext cx="7132320" cy="4937760"/>
          </a:xfrm>
          <a:prstGeom prst="rect">
            <a:avLst/>
          </a:prstGeom>
        </p:spPr>
      </p:pic>
      <p:sp>
        <p:nvSpPr>
          <p:cNvPr id="4" name="Text 1"/>
          <p:cNvSpPr txBox="1"/>
          <p:nvPr/>
        </p:nvSpPr>
        <p:spPr>
          <a:xfrm>
            <a:off x="8778240" y="2011680"/>
            <a:ext cx="3017520" cy="274320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Spatial-softmax keypoints</a:t>
            </a:r>
            <a:endParaRPr lang="en-US" sz="1500" dirty="0"/>
          </a:p>
          <a:p>
            <a:pPr marL="342900" indent="-342900">
              <a:spcAft>
                <a:spcPts val="800"/>
              </a:spcAft>
              <a:buSzPct val="100000"/>
              <a:buChar char="•"/>
            </a:pPr>
            <a:r>
              <a:rPr lang="en-US" sz="1500" dirty="0">
                <a:solidFill>
                  <a:schemeClr val="tx2"/>
                </a:solidFill>
              </a:rPr>
              <a:t>Wrist view: object, fingertips, table edge</a:t>
            </a:r>
            <a:endParaRPr lang="en-US" sz="1500" dirty="0"/>
          </a:p>
          <a:p>
            <a:pPr marL="342900" indent="-342900">
              <a:spcAft>
                <a:spcPts val="800"/>
              </a:spcAft>
              <a:buSzPct val="100000"/>
              <a:buChar char="•"/>
            </a:pPr>
            <a:r>
              <a:rPr lang="en-US" sz="1500" dirty="0">
                <a:solidFill>
                  <a:schemeClr val="tx2"/>
                </a:solidFill>
              </a:rPr>
              <a:t>Head view: table edge and objects on it</a:t>
            </a:r>
            <a:endParaRPr lang="en-US" sz="1500" dirty="0"/>
          </a:p>
          <a:p>
            <a:pPr marL="342900" indent="-342900">
              <a:spcAft>
                <a:spcPts val="800"/>
              </a:spcAft>
              <a:buSzPct val="100000"/>
              <a:buChar char="•"/>
            </a:pPr>
            <a:r>
              <a:rPr lang="en-US" sz="1500" dirty="0">
                <a:solidFill>
                  <a:schemeClr val="tx2"/>
                </a:solidFill>
              </a:rPr>
              <a:t>Dot size = how peaked the channel is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Experts specialise by skill without being told</a:t>
            </a:r>
            <a:endParaRPr lang="en-US" sz="3200" dirty="0"/>
          </a:p>
        </p:txBody>
      </p:sp>
      <p:graphicFrame>
        <p:nvGraphicFramePr>
          <p:cNvPr id="3" name="Chart 0" descr=""/>
          <p:cNvGraphicFramePr/>
          <p:nvPr/>
        </p:nvGraphicFramePr>
        <p:xfrm>
          <a:off x="548640" y="132588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554480"/>
            <a:ext cx="265176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62%</a:t>
            </a:r>
            <a:endParaRPr lang="en-US" sz="4800" dirty="0"/>
          </a:p>
        </p:txBody>
      </p:sp>
      <p:sp>
        <p:nvSpPr>
          <p:cNvPr id="5" name="Text 2"/>
          <p:cNvSpPr txBox="1"/>
          <p:nvPr/>
        </p:nvSpPr>
        <p:spPr>
          <a:xfrm>
            <a:off x="7863840" y="2423160"/>
            <a:ext cx="2651760" cy="731520"/>
          </a:xfrm>
          <a:prstGeom prst="rect">
            <a:avLst/>
          </a:prstGeom>
          <a:noFill/>
          <a:ln/>
        </p:spPr>
        <p:txBody>
          <a:bodyPr wrap="square" lIns="0" tIns="0" rIns="0" bIns="0" rtlCol="0" anchor="t"/>
          <a:lstStyle/>
          <a:p>
            <a:pPr indent="0" marL="0">
              <a:buNone/>
            </a:pPr>
            <a:r>
              <a:rPr lang="en-US" sz="1400" dirty="0">
                <a:solidFill>
                  <a:schemeClr val="tx2"/>
                </a:solidFill>
              </a:rPr>
              <a:t>of pick routed to expert 1</a:t>
            </a:r>
            <a:endParaRPr lang="en-US" sz="1400" dirty="0"/>
          </a:p>
        </p:txBody>
      </p:sp>
      <p:sp>
        <p:nvSpPr>
          <p:cNvPr id="6" name="Text 3"/>
          <p:cNvSpPr txBox="1"/>
          <p:nvPr/>
        </p:nvSpPr>
        <p:spPr>
          <a:xfrm>
            <a:off x="7863840" y="3200400"/>
            <a:ext cx="265176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66%</a:t>
            </a:r>
            <a:endParaRPr lang="en-US" sz="4800" dirty="0"/>
          </a:p>
        </p:txBody>
      </p:sp>
      <p:sp>
        <p:nvSpPr>
          <p:cNvPr id="7" name="Text 4"/>
          <p:cNvSpPr txBox="1"/>
          <p:nvPr/>
        </p:nvSpPr>
        <p:spPr>
          <a:xfrm>
            <a:off x="7863840" y="4069080"/>
            <a:ext cx="2651760" cy="731520"/>
          </a:xfrm>
          <a:prstGeom prst="rect">
            <a:avLst/>
          </a:prstGeom>
          <a:noFill/>
          <a:ln/>
        </p:spPr>
        <p:txBody>
          <a:bodyPr wrap="square" lIns="0" tIns="0" rIns="0" bIns="0" rtlCol="0" anchor="t"/>
          <a:lstStyle/>
          <a:p>
            <a:pPr indent="0" marL="0">
              <a:buNone/>
            </a:pPr>
            <a:r>
              <a:rPr lang="en-US" sz="1400" dirty="0">
                <a:solidFill>
                  <a:schemeClr val="tx2"/>
                </a:solidFill>
              </a:rPr>
              <a:t>of drop routed to expert 3</a:t>
            </a:r>
            <a:endParaRPr lang="en-US" sz="1400" dirty="0"/>
          </a:p>
        </p:txBody>
      </p:sp>
      <p:sp>
        <p:nvSpPr>
          <p:cNvPr id="8" name="Text 5"/>
          <p:cNvSpPr txBox="1"/>
          <p:nvPr/>
        </p:nvSpPr>
        <p:spPr>
          <a:xfrm>
            <a:off x="7863840" y="4892040"/>
            <a:ext cx="3749040" cy="1188720"/>
          </a:xfrm>
          <a:prstGeom prst="rect">
            <a:avLst/>
          </a:prstGeom>
          <a:noFill/>
          <a:ln/>
        </p:spPr>
        <p:txBody>
          <a:bodyPr wrap="square" lIns="0" tIns="0" rIns="0" bIns="0" rtlCol="0" anchor="t"/>
          <a:lstStyle/>
          <a:p>
            <a:pPr indent="0" marL="0">
              <a:buNone/>
            </a:pPr>
            <a:r>
              <a:rPr lang="en-US" sz="1400" dirty="0">
                <a:solidFill>
                  <a:schemeClr val="tx2"/>
                </a:solidFill>
              </a:rPr>
              <a:t>The skill command is an input, so the gate could route on it; it does, while the latent stays shared across skills.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Ablations: wrist camera and latent size</a:t>
            </a:r>
            <a:endParaRPr lang="en-US" sz="3200" dirty="0"/>
          </a:p>
        </p:txBody>
      </p:sp>
      <p:graphicFrame>
        <p:nvGraphicFramePr>
          <p:cNvPr id="3" name="Chart 0" descr=""/>
          <p:cNvGraphicFramePr/>
          <p:nvPr/>
        </p:nvGraphicFramePr>
        <p:xfrm>
          <a:off x="548640" y="132588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645920"/>
            <a:ext cx="3749040" cy="420624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What it says</a:t>
            </a:r>
            <a:endParaRPr lang="en-US" sz="1500" dirty="0"/>
          </a:p>
          <a:p>
            <a:pPr marL="342900" indent="-342900">
              <a:spcAft>
                <a:spcPts val="1000"/>
              </a:spcAft>
              <a:buSzPct val="100000"/>
              <a:buChar char="•"/>
            </a:pPr>
            <a:r>
              <a:rPr lang="en-US" sz="1500" dirty="0">
                <a:solidFill>
                  <a:schemeClr val="tx2"/>
                </a:solidFill>
              </a:rPr>
              <a:t>The wrist camera carries most of the task information; head-only loses the most</a:t>
            </a:r>
            <a:endParaRPr lang="en-US" sz="1500" dirty="0"/>
          </a:p>
          <a:p>
            <a:pPr marL="342900" indent="-342900">
              <a:spcAft>
                <a:spcPts val="1000"/>
              </a:spcAft>
              <a:buSzPct val="100000"/>
              <a:buChar char="•"/>
            </a:pPr>
            <a:r>
              <a:rPr lang="en-US" sz="1500" dirty="0">
                <a:solidFill>
                  <a:schemeClr val="tx2"/>
                </a:solidFill>
              </a:rPr>
              <a:t>4-D is too small; 64-D helps a little offline</a:t>
            </a:r>
            <a:endParaRPr lang="en-US" sz="1500" dirty="0"/>
          </a:p>
          <a:p>
            <a:pPr marL="342900" indent="-342900">
              <a:spcAft>
                <a:spcPts val="1000"/>
              </a:spcAft>
              <a:buSzPct val="100000"/>
              <a:buChar char="•"/>
            </a:pPr>
            <a:r>
              <a:rPr lang="en-US" sz="1500" dirty="0">
                <a:solidFill>
                  <a:schemeClr val="tx2"/>
                </a:solidFill>
              </a:rPr>
              <a:t>Offline numbers only: they do not predict closed-loop success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Closed loop: skills work alone, the monolith never did</a:t>
            </a:r>
            <a:endParaRPr lang="en-US" sz="3200" dirty="0"/>
          </a:p>
        </p:txBody>
      </p:sp>
      <p:pic>
        <p:nvPicPr>
          <p:cNvPr id="3" name="dagger" descr="C:\Users\mirai\latent_robot_demo\paper\figures\dagger_curves.png">    </p:cNvPr>
          <p:cNvPicPr>
            <a:picLocks noChangeAspect="1"/>
          </p:cNvPicPr>
          <p:nvPr/>
        </p:nvPicPr>
        <p:blipFill>
          <a:blip r:embed="rId1"/>
          <a:stretch>
            <a:fillRect/>
          </a:stretch>
        </p:blipFill>
        <p:spPr>
          <a:xfrm>
            <a:off x="548640" y="1280160"/>
            <a:ext cx="6400800" cy="4325112"/>
          </a:xfrm>
          <a:prstGeom prst="rect">
            <a:avLst/>
          </a:prstGeom>
        </p:spPr>
      </p:pic>
      <p:sp>
        <p:nvSpPr>
          <p:cNvPr id="4" name="Text 1"/>
          <p:cNvSpPr txBox="1"/>
          <p:nvPr/>
        </p:nvSpPr>
        <p:spPr>
          <a:xfrm>
            <a:off x="548640" y="5669280"/>
            <a:ext cx="6400800" cy="731520"/>
          </a:xfrm>
          <a:prstGeom prst="rect">
            <a:avLst/>
          </a:prstGeom>
          <a:noFill/>
          <a:ln/>
        </p:spPr>
        <p:txBody>
          <a:bodyPr wrap="square" lIns="0" tIns="0" rIns="0" bIns="0" rtlCol="0" anchor="t"/>
          <a:lstStyle/>
          <a:p>
            <a:pPr indent="0" marL="0">
              <a:buNone/>
            </a:pPr>
            <a:r>
              <a:rPr lang="en-US" sz="1200" dirty="0">
                <a:solidFill>
                  <a:srgbClr val="6B7280"/>
                </a:solidFill>
              </a:rPr>
              <a:t>Success vs share of steps executed by the student (95% Wilson intervals). Points at 1.0 are pure student control.</a:t>
            </a:r>
            <a:endParaRPr lang="en-US" sz="1200" dirty="0"/>
          </a:p>
        </p:txBody>
      </p:sp>
      <p:sp>
        <p:nvSpPr>
          <p:cNvPr id="5" name="Text 2"/>
          <p:cNvSpPr txBox="1"/>
          <p:nvPr/>
        </p:nvSpPr>
        <p:spPr>
          <a:xfrm>
            <a:off x="7498080" y="1417320"/>
            <a:ext cx="2651760" cy="82296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14/20</a:t>
            </a:r>
            <a:endParaRPr lang="en-US" sz="4800" dirty="0"/>
          </a:p>
        </p:txBody>
      </p:sp>
      <p:sp>
        <p:nvSpPr>
          <p:cNvPr id="6" name="Text 3"/>
          <p:cNvSpPr txBox="1"/>
          <p:nvPr/>
        </p:nvSpPr>
        <p:spPr>
          <a:xfrm>
            <a:off x="7498080" y="2286000"/>
            <a:ext cx="2651760" cy="731520"/>
          </a:xfrm>
          <a:prstGeom prst="rect">
            <a:avLst/>
          </a:prstGeom>
          <a:noFill/>
          <a:ln/>
        </p:spPr>
        <p:txBody>
          <a:bodyPr wrap="square" lIns="0" tIns="0" rIns="0" bIns="0" rtlCol="0" anchor="t"/>
          <a:lstStyle/>
          <a:p>
            <a:pPr indent="0" marL="0">
              <a:buNone/>
            </a:pPr>
            <a:r>
              <a:rPr lang="en-US" sz="1400" dirty="0">
                <a:solidFill>
                  <a:schemeClr val="tx2"/>
                </a:solidFill>
              </a:rPr>
              <a:t>camera-only pick, no teacher at all</a:t>
            </a:r>
            <a:endParaRPr lang="en-US" sz="1400" dirty="0"/>
          </a:p>
        </p:txBody>
      </p:sp>
      <p:sp>
        <p:nvSpPr>
          <p:cNvPr id="7" name="Text 4"/>
          <p:cNvSpPr txBox="1"/>
          <p:nvPr/>
        </p:nvSpPr>
        <p:spPr>
          <a:xfrm>
            <a:off x="7498080" y="2971800"/>
            <a:ext cx="265176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4/8</a:t>
            </a:r>
            <a:endParaRPr lang="en-US" sz="4800" dirty="0"/>
          </a:p>
        </p:txBody>
      </p:sp>
      <p:sp>
        <p:nvSpPr>
          <p:cNvPr id="8" name="Text 5"/>
          <p:cNvSpPr txBox="1"/>
          <p:nvPr/>
        </p:nvSpPr>
        <p:spPr>
          <a:xfrm>
            <a:off x="7498080" y="3840480"/>
            <a:ext cx="2651760" cy="731520"/>
          </a:xfrm>
          <a:prstGeom prst="rect">
            <a:avLst/>
          </a:prstGeom>
          <a:noFill/>
          <a:ln/>
        </p:spPr>
        <p:txBody>
          <a:bodyPr wrap="square" lIns="0" tIns="0" rIns="0" bIns="0" rtlCol="0" anchor="t"/>
          <a:lstStyle/>
          <a:p>
            <a:pPr indent="0" marL="0">
              <a:buNone/>
            </a:pPr>
            <a:r>
              <a:rPr lang="en-US" sz="1400" dirty="0">
                <a:solidFill>
                  <a:schemeClr val="tx2"/>
                </a:solidFill>
              </a:rPr>
              <a:t>full deliveries: learned pick + drop, planner goto</a:t>
            </a:r>
            <a:endParaRPr lang="en-US" sz="1400" dirty="0"/>
          </a:p>
        </p:txBody>
      </p:sp>
      <p:sp>
        <p:nvSpPr>
          <p:cNvPr id="9" name="Text 6"/>
          <p:cNvSpPr txBox="1"/>
          <p:nvPr/>
        </p:nvSpPr>
        <p:spPr>
          <a:xfrm>
            <a:off x="7498080" y="4526280"/>
            <a:ext cx="2651760" cy="82296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0</a:t>
            </a:r>
            <a:endParaRPr lang="en-US" sz="4800" dirty="0"/>
          </a:p>
        </p:txBody>
      </p:sp>
      <p:sp>
        <p:nvSpPr>
          <p:cNvPr id="10" name="Text 7"/>
          <p:cNvSpPr txBox="1"/>
          <p:nvPr/>
        </p:nvSpPr>
        <p:spPr>
          <a:xfrm>
            <a:off x="7498080" y="5394960"/>
            <a:ext cx="2651760" cy="731520"/>
          </a:xfrm>
          <a:prstGeom prst="rect">
            <a:avLst/>
          </a:prstGeom>
          <a:noFill/>
          <a:ln/>
        </p:spPr>
        <p:txBody>
          <a:bodyPr wrap="square" lIns="0" tIns="0" rIns="0" bIns="0" rtlCol="0" anchor="t"/>
          <a:lstStyle/>
          <a:p>
            <a:pPr indent="0" marL="0">
              <a:buNone/>
            </a:pPr>
            <a:r>
              <a:rPr lang="en-US" sz="1400" dirty="0">
                <a:solidFill>
                  <a:schemeClr val="tx2"/>
                </a:solidFill>
              </a:rPr>
              <a:t>solo successes of the end-to-end delivery policy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Opus as programmer and verifier</a:t>
            </a:r>
            <a:endParaRPr lang="en-US" sz="3200" dirty="0"/>
          </a:p>
        </p:txBody>
      </p:sp>
      <p:sp>
        <p:nvSpPr>
          <p:cNvPr id="3" name="program-card"/>
          <p:cNvSpPr/>
          <p:nvPr/>
        </p:nvSpPr>
        <p:spPr>
          <a:xfrm>
            <a:off x="548640" y="1371600"/>
            <a:ext cx="5486400" cy="3291840"/>
          </a:xfrm>
          <a:prstGeom prst="roundRect">
            <a:avLst>
              <a:gd name="adj" fmla="val 2222"/>
            </a:avLst>
          </a:prstGeom>
          <a:solidFill>
            <a:schemeClr val="bg2"/>
          </a:solidFill>
          <a:ln/>
        </p:spPr>
      </p:sp>
      <p:sp>
        <p:nvSpPr>
          <p:cNvPr id="4" name="Text 2"/>
          <p:cNvSpPr txBox="1"/>
          <p:nvPr/>
        </p:nvSpPr>
        <p:spPr>
          <a:xfrm>
            <a:off x="822960" y="1554480"/>
            <a:ext cx="5029200" cy="4572000"/>
          </a:xfrm>
          <a:prstGeom prst="rect">
            <a:avLst/>
          </a:prstGeom>
          <a:noFill/>
          <a:ln/>
        </p:spPr>
        <p:txBody>
          <a:bodyPr wrap="square" lIns="0" tIns="0" rIns="0" bIns="0" rtlCol="0" anchor="t"/>
          <a:lstStyle/>
          <a:p>
            <a:pPr indent="0" marL="0">
              <a:spcAft>
                <a:spcPts val="700"/>
              </a:spcAft>
              <a:buNone/>
            </a:pPr>
            <a:r>
              <a:rPr lang="en-US" sz="1800" b="1" dirty="0">
                <a:solidFill>
                  <a:schemeClr val="tx1"/>
                </a:solidFill>
              </a:rPr>
              <a:t>Recorded run</a:t>
            </a:r>
            <a:endParaRPr lang="en-US" sz="1500" dirty="0"/>
          </a:p>
          <a:p>
            <a:pPr indent="0" marL="0">
              <a:spcAft>
                <a:spcPts val="700"/>
              </a:spcAft>
              <a:buNone/>
            </a:pPr>
            <a:r>
              <a:rPr lang="en-US" sz="1400" dirty="0">
                <a:solidFill>
                  <a:schemeClr val="accent4"/>
                </a:solidFill>
                <a:latin typeface="Courier New" pitchFamily="34" charset="0"/>
                <a:ea typeface="Courier New" pitchFamily="34" charset="-122"/>
                <a:cs typeface="Courier New" pitchFamily="34" charset="-120"/>
              </a:rPr>
              <a:t>pick(blue)  face(east)  goto(teal)  drop()</a:t>
            </a:r>
            <a:endParaRPr lang="en-US" sz="1500" dirty="0"/>
          </a:p>
          <a:p>
            <a:pPr marL="342900" indent="-342900">
              <a:spcAft>
                <a:spcPts val="700"/>
              </a:spcAft>
              <a:buSzPct val="100000"/>
              <a:buChar char="•"/>
            </a:pPr>
            <a:r>
              <a:rPr lang="en-US" sz="1500" dirty="0">
                <a:solidFill>
                  <a:schemeClr val="tx2"/>
                </a:solidFill>
              </a:rPr>
              <a:t>Verified from images that the ball left the table</a:t>
            </a:r>
            <a:endParaRPr lang="en-US" sz="1500" dirty="0"/>
          </a:p>
          <a:p>
            <a:pPr indent="0" marL="0">
              <a:spcAft>
                <a:spcPts val="700"/>
              </a:spcAft>
              <a:buNone/>
            </a:pPr>
            <a:r>
              <a:rPr lang="en-US" sz="1400" dirty="0">
                <a:solidFill>
                  <a:schemeClr val="accent4"/>
                </a:solidFill>
                <a:latin typeface="Courier New" pitchFamily="34" charset="0"/>
                <a:ea typeface="Courier New" pitchFamily="34" charset="-122"/>
                <a:cs typeface="Courier New" pitchFamily="34" charset="-120"/>
              </a:rPr>
              <a:t>face(west)  goto(table)  face(north)  pick(red)</a:t>
            </a:r>
            <a:endParaRPr lang="en-US" sz="1500" dirty="0"/>
          </a:p>
          <a:p>
            <a:pPr marL="342900" indent="-342900">
              <a:spcAft>
                <a:spcPts val="700"/>
              </a:spcAft>
              <a:buSzPct val="100000"/>
              <a:buChar char="•"/>
            </a:pPr>
            <a:r>
              <a:rPr lang="en-US" sz="1500" dirty="0">
                <a:solidFill>
                  <a:schemeClr val="tx2"/>
                </a:solidFill>
              </a:rPr>
              <a:t>Retried pick(red) after a timeout</a:t>
            </a:r>
            <a:endParaRPr lang="en-US" sz="1500" dirty="0"/>
          </a:p>
          <a:p>
            <a:pPr marL="342900" indent="-342900">
              <a:spcAft>
                <a:spcPts val="700"/>
              </a:spcAft>
              <a:buSzPct val="100000"/>
              <a:buChar char="•"/>
            </a:pPr>
            <a:r>
              <a:rPr lang="en-US" sz="1500" dirty="0">
                <a:solidFill>
                  <a:schemeClr val="tx2"/>
                </a:solidFill>
              </a:rPr>
              <a:t>Then stopped, wrongly concluding the cube had left the table: its table and bin cameras had rendered black</a:t>
            </a:r>
            <a:endParaRPr lang="en-US" sz="1500" dirty="0"/>
          </a:p>
        </p:txBody>
      </p:sp>
      <p:graphicFrame>
        <p:nvGraphicFramePr>
          <p:cNvPr id="15" name="vlm-table"/>
          <p:cNvGraphicFramePr>
            <a:graphicFrameLocks noGrp="1"/>
          </p:cNvGraphicFramePr>
          <p:nvPr>
            <p:extLst>
              <p:ext uri="{D42A27DB-BD31-4B8C-83A1-F6EECF244321}">
                <p14:modId xmlns:p14="http://schemas.microsoft.com/office/powerpoint/2010/main" val="1579011935"/>
              </p:ext>
            </p:extLst>
          </p:nvPr>
        </p:nvGraphicFramePr>
        <p:xfrm>
          <a:off x="6309360" y="1463040"/>
          <a:ext cx="5303520" cy="914400"/>
        </p:xfrm>
        <a:graphic>
          <a:graphicData uri="http://schemas.openxmlformats.org/drawingml/2006/table">
            <a:tbl>
              <a:tblPr/>
              <a:tblGrid>
                <a:gridCol w="2011680"/>
                <a:gridCol w="914400"/>
                <a:gridCol w="777240"/>
                <a:gridCol w="822960"/>
                <a:gridCol w="777240"/>
              </a:tblGrid>
              <a:tr h="411480">
                <a:tc>
                  <a:txBody>
                    <a:bodyPr/>
                    <a:lstStyle/>
                    <a:p>
                      <a:pPr indent="0" marL="0">
                        <a:buNone/>
                      </a:pPr>
                      <a:r>
                        <a:rPr lang="en-US" sz="1400" b="1" dirty="0">
                          <a:solidFill>
                            <a:srgbClr val="1B1F24"/>
                          </a:solidFill>
                        </a:rPr>
                        <a:t>Views given</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1F4"/>
                    </a:solidFill>
                  </a:tcPr>
                </a:tc>
                <a:tc>
                  <a:txBody>
                    <a:bodyPr/>
                    <a:lstStyle/>
                    <a:p>
                      <a:pPr indent="0" marL="0">
                        <a:buNone/>
                      </a:pPr>
                      <a:r>
                        <a:rPr lang="en-US" sz="1400" b="1" dirty="0">
                          <a:solidFill>
                            <a:srgbClr val="1B1F24"/>
                          </a:solidFill>
                        </a:rPr>
                        <a:t>Accuracy</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1F4"/>
                    </a:solidFill>
                  </a:tcPr>
                </a:tc>
                <a:tc>
                  <a:txBody>
                    <a:bodyPr/>
                    <a:lstStyle/>
                    <a:p>
                      <a:pPr indent="0" marL="0">
                        <a:buNone/>
                      </a:pPr>
                      <a:r>
                        <a:rPr lang="en-US" sz="1400" b="1" dirty="0">
                          <a:solidFill>
                            <a:srgbClr val="1B1F24"/>
                          </a:solidFill>
                        </a:rPr>
                        <a:t>Table</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1F4"/>
                    </a:solidFill>
                  </a:tcPr>
                </a:tc>
                <a:tc>
                  <a:txBody>
                    <a:bodyPr/>
                    <a:lstStyle/>
                    <a:p>
                      <a:pPr indent="0" marL="0">
                        <a:buNone/>
                      </a:pPr>
                      <a:r>
                        <a:rPr lang="en-US" sz="1400" b="1" dirty="0">
                          <a:solidFill>
                            <a:srgbClr val="1B1F24"/>
                          </a:solidFill>
                        </a:rPr>
                        <a:t>In bin</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1F4"/>
                    </a:solidFill>
                  </a:tcPr>
                </a:tc>
                <a:tc>
                  <a:txBody>
                    <a:bodyPr/>
                    <a:lstStyle/>
                    <a:p>
                      <a:pPr indent="0" marL="0">
                        <a:buNone/>
                      </a:pPr>
                      <a:r>
                        <a:rPr lang="en-US" sz="1400" b="1" dirty="0">
                          <a:solidFill>
                            <a:srgbClr val="1B1F24"/>
                          </a:solidFill>
                        </a:rPr>
                        <a:t>Floor</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1F4"/>
                    </a:solidFill>
                  </a:tcPr>
                </a:tc>
              </a:tr>
              <a:tr h="411480">
                <a:tc>
                  <a:txBody>
                    <a:bodyPr/>
                    <a:lstStyle/>
                    <a:p>
                      <a:pPr indent="0" marL="0">
                        <a:buNone/>
                      </a:pPr>
                      <a:r>
                        <a:rPr lang="en-US" sz="1400" dirty="0">
                          <a:solidFill>
                            <a:srgbClr val="1B1F24"/>
                          </a:solidFill>
                        </a:rPr>
                        <a:t>table + bins + overview</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83%</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31/31</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19/31</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10/10</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B1F24"/>
                          </a:solidFill>
                        </a:rPr>
                        <a:t>overview only</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53%</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26/31</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2/31</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10/10</a:t>
                      </a:r>
                      <a:endParaRPr lang="en-US" sz="14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309360" y="2971800"/>
            <a:ext cx="5303520" cy="822960"/>
          </a:xfrm>
          <a:prstGeom prst="rect">
            <a:avLst/>
          </a:prstGeom>
          <a:noFill/>
          <a:ln/>
        </p:spPr>
        <p:txBody>
          <a:bodyPr wrap="square" lIns="0" tIns="0" rIns="0" bIns="0" rtlCol="0" anchor="t"/>
          <a:lstStyle/>
          <a:p>
            <a:pPr indent="0" marL="0">
              <a:buNone/>
            </a:pPr>
            <a:r>
              <a:rPr lang="en-US" sz="1300" dirty="0">
                <a:solidFill>
                  <a:srgbClr val="6B7280"/>
                </a:solidFill>
              </a:rPr>
              <a:t>Object locations from rendered images vs PhysX ground truth: 24 scenes × 3 objects. Errors are almost all "not visible" abstentions for objects inside bins; only one answer named a wrong location.</a:t>
            </a:r>
            <a:endParaRPr lang="en-US" sz="1300" dirty="0"/>
          </a:p>
        </p:txBody>
      </p:sp>
      <p:pic>
        <p:nvPicPr>
          <p:cNvPr id="3" name="demo-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309360" y="3931920"/>
            <a:ext cx="3931920" cy="2212848"/>
          </a:xfrm>
          <a:prstGeom prst="rect">
            <a:avLst/>
          </a:prstGeom>
        </p:spPr>
      </p:pic>
      <p:sp>
        <p:nvSpPr>
          <p:cNvPr id="8" name="Text 4"/>
          <p:cNvSpPr txBox="1"/>
          <p:nvPr/>
        </p:nvSpPr>
        <p:spPr>
          <a:xfrm>
            <a:off x="548640" y="6263640"/>
            <a:ext cx="5669280" cy="457200"/>
          </a:xfrm>
          <a:prstGeom prst="rect">
            <a:avLst/>
          </a:prstGeom>
          <a:noFill/>
          <a:ln/>
        </p:spPr>
        <p:txBody>
          <a:bodyPr wrap="square" lIns="0" tIns="0" rIns="0" bIns="0" rtlCol="0" anchor="t"/>
          <a:lstStyle/>
          <a:p>
            <a:pPr indent="0" marL="0">
              <a:buNone/>
            </a:pPr>
            <a:r>
              <a:rPr lang="en-US" sz="1100" dirty="0">
                <a:solidFill>
                  <a:srgbClr val="6B7280"/>
                </a:solidFill>
              </a:rPr>
              <a:t>Disclosure: the table/bin layout and the pick → face → goto → drop recipe are written in Opus's prompt; it chooses objects, order, checks and retries.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Deployment test: Opus alone vs Opus + 16-D skill</a:t>
            </a:r>
            <a:endParaRPr lang="en-US" sz="3200" dirty="0"/>
          </a:p>
        </p:txBody>
      </p:sp>
      <p:sp>
        <p:nvSpPr>
          <p:cNvPr id="3" name="Text 1"/>
          <p:cNvSpPr txBox="1"/>
          <p:nvPr/>
        </p:nvSpPr>
        <p:spPr>
          <a:xfrm>
            <a:off x="548640" y="1234440"/>
            <a:ext cx="11064240" cy="685800"/>
          </a:xfrm>
          <a:prstGeom prst="rect">
            <a:avLst/>
          </a:prstGeom>
          <a:noFill/>
          <a:ln/>
        </p:spPr>
        <p:txBody>
          <a:bodyPr wrap="square" lIns="0" tIns="0" rIns="0" bIns="0" rtlCol="0" anchor="t"/>
          <a:lstStyle/>
          <a:p>
            <a:pPr indent="0" marL="0">
              <a:buNone/>
            </a:pPr>
            <a:r>
              <a:rPr lang="en-US" sz="1500" dirty="0">
                <a:solidFill>
                  <a:schemeClr val="tx2"/>
                </a:solidFill>
              </a:rPr>
              <a:t>Same robot, same two cameras, same instruction ("pick up the &lt;colour&gt; object"), same Opus model and prompt budget. Success is read from PhysX: the commanded object held 5 cm above the table. Clocks are wall time, including Opus thinking.</a:t>
            </a:r>
            <a:endParaRPr lang="en-US" sz="1500" dirty="0"/>
          </a:p>
        </p:txBody>
      </p:sp>
      <p:sp>
        <p:nvSpPr>
          <p:cNvPr id="4" name="h2h-Opus alone"/>
          <p:cNvSpPr/>
          <p:nvPr/>
        </p:nvSpPr>
        <p:spPr>
          <a:xfrm>
            <a:off x="548640" y="2103120"/>
            <a:ext cx="3566160" cy="4160520"/>
          </a:xfrm>
          <a:prstGeom prst="roundRect">
            <a:avLst>
              <a:gd name="adj" fmla="val 2051"/>
            </a:avLst>
          </a:prstGeom>
          <a:solidFill>
            <a:schemeClr val="bg2"/>
          </a:solidFill>
          <a:ln/>
        </p:spPr>
      </p:sp>
      <p:sp>
        <p:nvSpPr>
          <p:cNvPr id="5" name="Text 3"/>
          <p:cNvSpPr txBox="1"/>
          <p:nvPr/>
        </p:nvSpPr>
        <p:spPr>
          <a:xfrm>
            <a:off x="822960" y="2286000"/>
            <a:ext cx="3108960" cy="411480"/>
          </a:xfrm>
          <a:prstGeom prst="rect">
            <a:avLst/>
          </a:prstGeom>
          <a:noFill/>
          <a:ln/>
        </p:spPr>
        <p:txBody>
          <a:bodyPr wrap="square" lIns="0" tIns="0" rIns="0" bIns="0" rtlCol="0" anchor="t"/>
          <a:lstStyle/>
          <a:p>
            <a:pPr indent="0" marL="0">
              <a:buNone/>
            </a:pPr>
            <a:r>
              <a:rPr lang="en-US" sz="1800" b="1" dirty="0">
                <a:solidFill>
                  <a:schemeClr val="accent1"/>
                </a:solidFill>
              </a:rPr>
              <a:t>Opus alone</a:t>
            </a:r>
            <a:endParaRPr lang="en-US" sz="1800" dirty="0"/>
          </a:p>
        </p:txBody>
      </p:sp>
      <p:sp>
        <p:nvSpPr>
          <p:cNvPr id="6" name="Text 4"/>
          <p:cNvSpPr txBox="1"/>
          <p:nvPr/>
        </p:nvSpPr>
        <p:spPr>
          <a:xfrm>
            <a:off x="822960" y="2697480"/>
            <a:ext cx="3108960" cy="640080"/>
          </a:xfrm>
          <a:prstGeom prst="rect">
            <a:avLst/>
          </a:prstGeom>
          <a:noFill/>
          <a:ln/>
        </p:spPr>
        <p:txBody>
          <a:bodyPr wrap="square" lIns="0" tIns="0" rIns="0" bIns="0" rtlCol="0" anchor="t"/>
          <a:lstStyle/>
          <a:p>
            <a:pPr indent="0" marL="0">
              <a:buNone/>
            </a:pPr>
            <a:r>
              <a:rPr lang="en-US" sz="1200" dirty="0">
                <a:solidFill>
                  <a:srgbClr val="6B7280"/>
                </a:solidFill>
              </a:rPr>
              <a:t>each call moves the gripper ≤ 8 cm and sets open/close</a:t>
            </a:r>
            <a:endParaRPr lang="en-US" sz="1200" dirty="0"/>
          </a:p>
        </p:txBody>
      </p:sp>
      <p:sp>
        <p:nvSpPr>
          <p:cNvPr id="7" name="Text 5"/>
          <p:cNvSpPr txBox="1"/>
          <p:nvPr/>
        </p:nvSpPr>
        <p:spPr>
          <a:xfrm>
            <a:off x="822960" y="3337560"/>
            <a:ext cx="3108960" cy="777240"/>
          </a:xfrm>
          <a:prstGeom prst="rect">
            <a:avLst/>
          </a:prstGeom>
          <a:noFill/>
          <a:ln/>
        </p:spPr>
        <p:txBody>
          <a:bodyPr wrap="square" lIns="0" tIns="0" rIns="0" bIns="0" rtlCol="0" anchor="t"/>
          <a:lstStyle/>
          <a:p>
            <a:pPr indent="0" marL="0">
              <a:buNone/>
            </a:pPr>
            <a:r>
              <a:rPr lang="en-US" sz="4400" b="1" dirty="0">
                <a:solidFill>
                  <a:schemeClr val="tx1"/>
                </a:solidFill>
                <a:latin typeface="Cambria" pitchFamily="34" charset="0"/>
                <a:ea typeface="Cambria" pitchFamily="34" charset="-122"/>
                <a:cs typeface="Cambria" pitchFamily="34" charset="-120"/>
              </a:rPr>
              <a:t>0/6</a:t>
            </a:r>
            <a:endParaRPr lang="en-US" sz="4400" dirty="0"/>
          </a:p>
        </p:txBody>
      </p:sp>
      <p:sp>
        <p:nvSpPr>
          <p:cNvPr id="8" name="Text 6"/>
          <p:cNvSpPr txBox="1"/>
          <p:nvPr/>
        </p:nvSpPr>
        <p:spPr>
          <a:xfrm>
            <a:off x="822960" y="4069080"/>
            <a:ext cx="3108960" cy="320040"/>
          </a:xfrm>
          <a:prstGeom prst="rect">
            <a:avLst/>
          </a:prstGeom>
          <a:noFill/>
          <a:ln/>
        </p:spPr>
        <p:txBody>
          <a:bodyPr wrap="square" lIns="0" tIns="0" rIns="0" bIns="0" rtlCol="0" anchor="t"/>
          <a:lstStyle/>
          <a:p>
            <a:pPr indent="0" marL="0">
              <a:buNone/>
            </a:pPr>
            <a:r>
              <a:rPr lang="en-US" sz="1300" dirty="0">
                <a:solidFill>
                  <a:schemeClr val="tx2"/>
                </a:solidFill>
              </a:rPr>
              <a:t>successful picks</a:t>
            </a:r>
            <a:endParaRPr lang="en-US" sz="1300" dirty="0"/>
          </a:p>
        </p:txBody>
      </p:sp>
      <p:sp>
        <p:nvSpPr>
          <p:cNvPr id="9" name="Text 7"/>
          <p:cNvSpPr txBox="1"/>
          <p:nvPr/>
        </p:nvSpPr>
        <p:spPr>
          <a:xfrm>
            <a:off x="822960" y="4480560"/>
            <a:ext cx="3108960"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never</a:t>
            </a:r>
            <a:endParaRPr lang="en-US" sz="3200" dirty="0"/>
          </a:p>
        </p:txBody>
      </p:sp>
      <p:sp>
        <p:nvSpPr>
          <p:cNvPr id="10" name="Text 8"/>
          <p:cNvSpPr txBox="1"/>
          <p:nvPr/>
        </p:nvSpPr>
        <p:spPr>
          <a:xfrm>
            <a:off x="822960" y="5074920"/>
            <a:ext cx="3108960" cy="320040"/>
          </a:xfrm>
          <a:prstGeom prst="rect">
            <a:avLst/>
          </a:prstGeom>
          <a:noFill/>
          <a:ln/>
        </p:spPr>
        <p:txBody>
          <a:bodyPr wrap="square" lIns="0" tIns="0" rIns="0" bIns="0" rtlCol="0" anchor="t"/>
          <a:lstStyle/>
          <a:p>
            <a:pPr indent="0" marL="0">
              <a:buNone/>
            </a:pPr>
            <a:r>
              <a:rPr lang="en-US" sz="1300" dirty="0">
                <a:solidFill>
                  <a:schemeClr val="tx2"/>
                </a:solidFill>
              </a:rPr>
              <a:t>mean time when successful</a:t>
            </a:r>
            <a:endParaRPr lang="en-US" sz="1300" dirty="0"/>
          </a:p>
        </p:txBody>
      </p:sp>
      <p:sp>
        <p:nvSpPr>
          <p:cNvPr id="11" name="Text 9"/>
          <p:cNvSpPr txBox="1"/>
          <p:nvPr/>
        </p:nvSpPr>
        <p:spPr>
          <a:xfrm>
            <a:off x="822960" y="5532120"/>
            <a:ext cx="3108960" cy="457200"/>
          </a:xfrm>
          <a:prstGeom prst="rect">
            <a:avLst/>
          </a:prstGeom>
          <a:noFill/>
          <a:ln/>
        </p:spPr>
        <p:txBody>
          <a:bodyPr wrap="square" lIns="0" tIns="0" rIns="0" bIns="0" rtlCol="0" anchor="t"/>
          <a:lstStyle/>
          <a:p>
            <a:pPr indent="0" marL="0">
              <a:buNone/>
            </a:pPr>
            <a:r>
              <a:rPr lang="en-US" sz="1500" b="1" dirty="0">
                <a:solidFill>
                  <a:schemeClr val="tx2"/>
                </a:solidFill>
              </a:rPr>
              <a:t>13.0 Opus calls per attempt</a:t>
            </a:r>
            <a:endParaRPr lang="en-US" sz="1500" dirty="0"/>
          </a:p>
        </p:txBody>
      </p:sp>
      <p:sp>
        <p:nvSpPr>
          <p:cNvPr id="12" name="h2h-Opus + 16-D skill"/>
          <p:cNvSpPr/>
          <p:nvPr/>
        </p:nvSpPr>
        <p:spPr>
          <a:xfrm>
            <a:off x="4297680" y="2103120"/>
            <a:ext cx="3566160" cy="4160520"/>
          </a:xfrm>
          <a:prstGeom prst="roundRect">
            <a:avLst>
              <a:gd name="adj" fmla="val 2051"/>
            </a:avLst>
          </a:prstGeom>
          <a:solidFill>
            <a:schemeClr val="bg2"/>
          </a:solidFill>
          <a:ln/>
        </p:spPr>
      </p:sp>
      <p:sp>
        <p:nvSpPr>
          <p:cNvPr id="13" name="Text 11"/>
          <p:cNvSpPr txBox="1"/>
          <p:nvPr/>
        </p:nvSpPr>
        <p:spPr>
          <a:xfrm>
            <a:off x="4572000" y="2286000"/>
            <a:ext cx="3108960" cy="411480"/>
          </a:xfrm>
          <a:prstGeom prst="rect">
            <a:avLst/>
          </a:prstGeom>
          <a:noFill/>
          <a:ln/>
        </p:spPr>
        <p:txBody>
          <a:bodyPr wrap="square" lIns="0" tIns="0" rIns="0" bIns="0" rtlCol="0" anchor="t"/>
          <a:lstStyle/>
          <a:p>
            <a:pPr indent="0" marL="0">
              <a:buNone/>
            </a:pPr>
            <a:r>
              <a:rPr lang="en-US" sz="1800" b="1" dirty="0">
                <a:solidFill>
                  <a:schemeClr val="accent3"/>
                </a:solidFill>
              </a:rPr>
              <a:t>Opus + 16-D skill</a:t>
            </a:r>
            <a:endParaRPr lang="en-US" sz="1800" dirty="0"/>
          </a:p>
        </p:txBody>
      </p:sp>
      <p:sp>
        <p:nvSpPr>
          <p:cNvPr id="14" name="Text 12"/>
          <p:cNvSpPr txBox="1"/>
          <p:nvPr/>
        </p:nvSpPr>
        <p:spPr>
          <a:xfrm>
            <a:off x="4572000" y="2697480"/>
            <a:ext cx="3108960" cy="640080"/>
          </a:xfrm>
          <a:prstGeom prst="rect">
            <a:avLst/>
          </a:prstGeom>
          <a:noFill/>
          <a:ln/>
        </p:spPr>
        <p:txBody>
          <a:bodyPr wrap="square" lIns="0" tIns="0" rIns="0" bIns="0" rtlCol="0" anchor="t"/>
          <a:lstStyle/>
          <a:p>
            <a:pPr indent="0" marL="0">
              <a:buNone/>
            </a:pPr>
            <a:r>
              <a:rPr lang="en-US" sz="1200" dirty="0">
                <a:solidFill>
                  <a:srgbClr val="6B7280"/>
                </a:solidFill>
              </a:rPr>
              <a:t>Opus calls pick(colour); the latent policy closes the loop at 15 Hz</a:t>
            </a:r>
            <a:endParaRPr lang="en-US" sz="1200" dirty="0"/>
          </a:p>
        </p:txBody>
      </p:sp>
      <p:sp>
        <p:nvSpPr>
          <p:cNvPr id="15" name="Text 13"/>
          <p:cNvSpPr txBox="1"/>
          <p:nvPr/>
        </p:nvSpPr>
        <p:spPr>
          <a:xfrm>
            <a:off x="4572000" y="3337560"/>
            <a:ext cx="3108960" cy="777240"/>
          </a:xfrm>
          <a:prstGeom prst="rect">
            <a:avLst/>
          </a:prstGeom>
          <a:noFill/>
          <a:ln/>
        </p:spPr>
        <p:txBody>
          <a:bodyPr wrap="square" lIns="0" tIns="0" rIns="0" bIns="0" rtlCol="0" anchor="t"/>
          <a:lstStyle/>
          <a:p>
            <a:pPr indent="0" marL="0">
              <a:buNone/>
            </a:pPr>
            <a:r>
              <a:rPr lang="en-US" sz="4400" b="1" dirty="0">
                <a:solidFill>
                  <a:schemeClr val="tx1"/>
                </a:solidFill>
                <a:latin typeface="Cambria" pitchFamily="34" charset="0"/>
                <a:ea typeface="Cambria" pitchFamily="34" charset="-122"/>
                <a:cs typeface="Cambria" pitchFamily="34" charset="-120"/>
              </a:rPr>
              <a:t>4/6</a:t>
            </a:r>
            <a:endParaRPr lang="en-US" sz="4400" dirty="0"/>
          </a:p>
        </p:txBody>
      </p:sp>
      <p:sp>
        <p:nvSpPr>
          <p:cNvPr id="16" name="Text 14"/>
          <p:cNvSpPr txBox="1"/>
          <p:nvPr/>
        </p:nvSpPr>
        <p:spPr>
          <a:xfrm>
            <a:off x="4572000" y="4069080"/>
            <a:ext cx="3108960" cy="320040"/>
          </a:xfrm>
          <a:prstGeom prst="rect">
            <a:avLst/>
          </a:prstGeom>
          <a:noFill/>
          <a:ln/>
        </p:spPr>
        <p:txBody>
          <a:bodyPr wrap="square" lIns="0" tIns="0" rIns="0" bIns="0" rtlCol="0" anchor="t"/>
          <a:lstStyle/>
          <a:p>
            <a:pPr indent="0" marL="0">
              <a:buNone/>
            </a:pPr>
            <a:r>
              <a:rPr lang="en-US" sz="1300" dirty="0">
                <a:solidFill>
                  <a:schemeClr val="tx2"/>
                </a:solidFill>
              </a:rPr>
              <a:t>successful picks</a:t>
            </a:r>
            <a:endParaRPr lang="en-US" sz="1300" dirty="0"/>
          </a:p>
        </p:txBody>
      </p:sp>
      <p:sp>
        <p:nvSpPr>
          <p:cNvPr id="17" name="Text 15"/>
          <p:cNvSpPr txBox="1"/>
          <p:nvPr/>
        </p:nvSpPr>
        <p:spPr>
          <a:xfrm>
            <a:off x="4572000" y="4480560"/>
            <a:ext cx="3108960"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18 s</a:t>
            </a:r>
            <a:endParaRPr lang="en-US" sz="3200" dirty="0"/>
          </a:p>
        </p:txBody>
      </p:sp>
      <p:sp>
        <p:nvSpPr>
          <p:cNvPr id="18" name="Text 16"/>
          <p:cNvSpPr txBox="1"/>
          <p:nvPr/>
        </p:nvSpPr>
        <p:spPr>
          <a:xfrm>
            <a:off x="4572000" y="5074920"/>
            <a:ext cx="3108960" cy="320040"/>
          </a:xfrm>
          <a:prstGeom prst="rect">
            <a:avLst/>
          </a:prstGeom>
          <a:noFill/>
          <a:ln/>
        </p:spPr>
        <p:txBody>
          <a:bodyPr wrap="square" lIns="0" tIns="0" rIns="0" bIns="0" rtlCol="0" anchor="t"/>
          <a:lstStyle/>
          <a:p>
            <a:pPr indent="0" marL="0">
              <a:buNone/>
            </a:pPr>
            <a:r>
              <a:rPr lang="en-US" sz="1300" dirty="0">
                <a:solidFill>
                  <a:schemeClr val="tx2"/>
                </a:solidFill>
              </a:rPr>
              <a:t>mean time when successful</a:t>
            </a:r>
            <a:endParaRPr lang="en-US" sz="1300" dirty="0"/>
          </a:p>
        </p:txBody>
      </p:sp>
      <p:sp>
        <p:nvSpPr>
          <p:cNvPr id="19" name="Text 17"/>
          <p:cNvSpPr txBox="1"/>
          <p:nvPr/>
        </p:nvSpPr>
        <p:spPr>
          <a:xfrm>
            <a:off x="4572000" y="5532120"/>
            <a:ext cx="3108960" cy="457200"/>
          </a:xfrm>
          <a:prstGeom prst="rect">
            <a:avLst/>
          </a:prstGeom>
          <a:noFill/>
          <a:ln/>
        </p:spPr>
        <p:txBody>
          <a:bodyPr wrap="square" lIns="0" tIns="0" rIns="0" bIns="0" rtlCol="0" anchor="t"/>
          <a:lstStyle/>
          <a:p>
            <a:pPr indent="0" marL="0">
              <a:buNone/>
            </a:pPr>
            <a:r>
              <a:rPr lang="en-US" sz="1500" b="1" dirty="0">
                <a:solidFill>
                  <a:schemeClr val="tx2"/>
                </a:solidFill>
              </a:rPr>
              <a:t>2.2 Opus calls per attempt</a:t>
            </a:r>
            <a:endParaRPr lang="en-US" sz="1500" dirty="0"/>
          </a:p>
        </p:txBody>
      </p:sp>
      <p:pic>
        <p:nvPicPr>
          <p:cNvPr id="3" name="h2h-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092440" y="2103120"/>
            <a:ext cx="3566160" cy="2002536"/>
          </a:xfrm>
          <a:prstGeom prst="rect">
            <a:avLst/>
          </a:prstGeom>
        </p:spPr>
      </p:pic>
      <p:sp>
        <p:nvSpPr>
          <p:cNvPr id="21" name="Text 18"/>
          <p:cNvSpPr txBox="1"/>
          <p:nvPr/>
        </p:nvSpPr>
        <p:spPr>
          <a:xfrm>
            <a:off x="8092440" y="4206240"/>
            <a:ext cx="3566160" cy="548640"/>
          </a:xfrm>
          <a:prstGeom prst="rect">
            <a:avLst/>
          </a:prstGeom>
          <a:noFill/>
          <a:ln/>
        </p:spPr>
        <p:txBody>
          <a:bodyPr wrap="square" lIns="0" tIns="0" rIns="0" bIns="0" rtlCol="0" anchor="t"/>
          <a:lstStyle/>
          <a:p>
            <a:pPr indent="0" marL="0">
              <a:buNone/>
            </a:pPr>
            <a:r>
              <a:rPr lang="en-US" sz="1200" dirty="0">
                <a:solidFill>
                  <a:srgbClr val="6B7280"/>
                </a:solidFill>
              </a:rPr>
              <a:t>Comparison video (under 60 s), real time then labelled speed-up</a:t>
            </a:r>
            <a:endParaRPr lang="en-US" sz="1200" dirty="0"/>
          </a:p>
        </p:txBody>
      </p:sp>
      <p:sp>
        <p:nvSpPr>
          <p:cNvPr id="22" name="Text 19"/>
          <p:cNvSpPr txBox="1"/>
          <p:nvPr/>
        </p:nvSpPr>
        <p:spPr>
          <a:xfrm>
            <a:off x="8092440" y="4846320"/>
            <a:ext cx="3566160" cy="1371600"/>
          </a:xfrm>
          <a:prstGeom prst="rect">
            <a:avLst/>
          </a:prstGeom>
          <a:noFill/>
          <a:ln/>
        </p:spPr>
        <p:txBody>
          <a:bodyPr wrap="square" lIns="0" tIns="0" rIns="0" bIns="0" rtlCol="0" anchor="t"/>
          <a:lstStyle/>
          <a:p>
            <a:pPr indent="0" marL="0">
              <a:buNone/>
            </a:pPr>
            <a:r>
              <a:rPr lang="en-US" sz="1500" b="1" dirty="0">
                <a:solidFill>
                  <a:schemeClr val="tx1"/>
                </a:solidFill>
              </a:rPr>
              <a:t>A language model reasons well but sees and acts once every ~10 s; contact-rich grasping needs feedback every ~70 ms.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Four orders of magnitude between the two layers</a:t>
            </a:r>
            <a:endParaRPr lang="en-US" sz="3200" dirty="0"/>
          </a:p>
        </p:txBody>
      </p:sp>
      <p:pic>
        <p:nvPicPr>
          <p:cNvPr id="3" name="latency" descr="C:\Users\mirai\latent_robot_demo\paper\figures\latency.png">    </p:cNvPr>
          <p:cNvPicPr>
            <a:picLocks noChangeAspect="1"/>
          </p:cNvPicPr>
          <p:nvPr/>
        </p:nvPicPr>
        <p:blipFill>
          <a:blip r:embed="rId1"/>
          <a:stretch>
            <a:fillRect/>
          </a:stretch>
        </p:blipFill>
        <p:spPr>
          <a:xfrm>
            <a:off x="548640" y="1371600"/>
            <a:ext cx="6949440" cy="3895344"/>
          </a:xfrm>
          <a:prstGeom prst="rect">
            <a:avLst/>
          </a:prstGeom>
        </p:spPr>
      </p:pic>
      <p:sp>
        <p:nvSpPr>
          <p:cNvPr id="4" name="Text 1"/>
          <p:cNvSpPr txBox="1"/>
          <p:nvPr/>
        </p:nvSpPr>
        <p:spPr>
          <a:xfrm>
            <a:off x="7955280" y="1645920"/>
            <a:ext cx="3749040" cy="4023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Inside the running simulator a decision takes 6–15 ms, well under the 67 ms control period</a:t>
            </a:r>
            <a:endParaRPr lang="en-US" sz="1500" dirty="0"/>
          </a:p>
          <a:p>
            <a:pPr marL="342900" indent="-342900">
              <a:spcAft>
                <a:spcPts val="1000"/>
              </a:spcAft>
              <a:buSzPct val="100000"/>
              <a:buChar char="•"/>
            </a:pPr>
            <a:r>
              <a:rPr lang="en-US" sz="1500" dirty="0">
                <a:solidFill>
                  <a:schemeClr val="tx2"/>
                </a:solidFill>
              </a:rPr>
              <a:t>A VLM call takes 6–13 s, so it can only act on programs, never on motor commands</a:t>
            </a:r>
            <a:endParaRPr lang="en-US" sz="1500" dirty="0"/>
          </a:p>
          <a:p>
            <a:pPr marL="342900" indent="-342900">
              <a:spcAft>
                <a:spcPts val="1000"/>
              </a:spcAft>
              <a:buSzPct val="100000"/>
              <a:buChar char="•"/>
            </a:pPr>
            <a:r>
              <a:rPr lang="en-US" sz="1500" dirty="0">
                <a:solidFill>
                  <a:schemeClr val="tx2"/>
                </a:solidFill>
              </a:rPr>
              <a:t>The robot holds still while Opus thinks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Where it fits, and the next step</a:t>
            </a:r>
            <a:endParaRPr lang="en-US" sz="3200" dirty="0"/>
          </a:p>
        </p:txBody>
      </p:sp>
      <p:sp>
        <p:nvSpPr>
          <p:cNvPr id="3" name="fits-card"/>
          <p:cNvSpPr/>
          <p:nvPr/>
        </p:nvSpPr>
        <p:spPr>
          <a:xfrm>
            <a:off x="548640" y="1371600"/>
            <a:ext cx="5440680" cy="2240280"/>
          </a:xfrm>
          <a:prstGeom prst="roundRect">
            <a:avLst>
              <a:gd name="adj" fmla="val 3265"/>
            </a:avLst>
          </a:prstGeom>
          <a:solidFill>
            <a:schemeClr val="bg2"/>
          </a:solidFill>
          <a:ln/>
        </p:spPr>
      </p:sp>
      <p:sp>
        <p:nvSpPr>
          <p:cNvPr id="4" name="Text 2"/>
          <p:cNvSpPr txBox="1"/>
          <p:nvPr/>
        </p:nvSpPr>
        <p:spPr>
          <a:xfrm>
            <a:off x="822960" y="1554480"/>
            <a:ext cx="4937760" cy="1965960"/>
          </a:xfrm>
          <a:prstGeom prst="rect">
            <a:avLst/>
          </a:prstGeom>
          <a:noFill/>
          <a:ln/>
        </p:spPr>
        <p:txBody>
          <a:bodyPr wrap="square" lIns="0" tIns="0" rIns="0" bIns="0" rtlCol="0" anchor="t"/>
          <a:lstStyle/>
          <a:p>
            <a:pPr indent="0" marL="0">
              <a:spcAft>
                <a:spcPts val="500"/>
              </a:spcAft>
              <a:buNone/>
            </a:pPr>
            <a:r>
              <a:rPr lang="en-US" sz="1800" b="1" dirty="0">
                <a:solidFill>
                  <a:schemeClr val="accent3"/>
                </a:solidFill>
              </a:rPr>
              <a:t>Fits now: fixed, structured cells</a:t>
            </a:r>
            <a:endParaRPr lang="en-US" sz="1500" dirty="0"/>
          </a:p>
          <a:p>
            <a:pPr marL="342900" indent="-342900">
              <a:spcAft>
                <a:spcPts val="500"/>
              </a:spcAft>
              <a:buSzPct val="100000"/>
              <a:buChar char="•"/>
            </a:pPr>
            <a:r>
              <a:rPr lang="en-US" sz="1500" dirty="0">
                <a:solidFill>
                  <a:schemeClr val="tx2"/>
                </a:solidFill>
              </a:rPr>
              <a:t>Factory stations, warehouses, lab automation: one setting, known parts</a:t>
            </a:r>
            <a:endParaRPr lang="en-US" sz="1500" dirty="0"/>
          </a:p>
          <a:p>
            <a:pPr marL="342900" indent="-342900">
              <a:spcAft>
                <a:spcPts val="500"/>
              </a:spcAft>
              <a:buSzPct val="100000"/>
              <a:buChar char="•"/>
            </a:pPr>
            <a:r>
              <a:rPr lang="en-US" sz="1500" dirty="0">
                <a:solidFill>
                  <a:schemeClr val="tx2"/>
                </a:solidFill>
              </a:rPr>
              <a:t>A skill takes a few hours, mostly simulator time; training itself is minutes</a:t>
            </a:r>
            <a:endParaRPr lang="en-US" sz="1500" dirty="0"/>
          </a:p>
          <a:p>
            <a:pPr marL="342900" indent="-342900">
              <a:spcAft>
                <a:spcPts val="500"/>
              </a:spcAft>
              <a:buSzPct val="100000"/>
              <a:buChar char="•"/>
            </a:pPr>
            <a:r>
              <a:rPr lang="en-US" sz="1500" dirty="0">
                <a:solidFill>
                  <a:schemeClr val="tx2"/>
                </a:solidFill>
              </a:rPr>
              <a:t>1.5 ms decisions; 7.5 ms even on a CPU</a:t>
            </a:r>
            <a:endParaRPr lang="en-US" sz="1500" dirty="0"/>
          </a:p>
        </p:txBody>
      </p:sp>
      <p:sp>
        <p:nvSpPr>
          <p:cNvPr id="5" name="needs-card"/>
          <p:cNvSpPr/>
          <p:nvPr/>
        </p:nvSpPr>
        <p:spPr>
          <a:xfrm>
            <a:off x="6172200" y="1371600"/>
            <a:ext cx="5440680" cy="2240280"/>
          </a:xfrm>
          <a:prstGeom prst="roundRect">
            <a:avLst>
              <a:gd name="adj" fmla="val 3265"/>
            </a:avLst>
          </a:prstGeom>
          <a:solidFill>
            <a:schemeClr val="bg2"/>
          </a:solidFill>
          <a:ln/>
        </p:spPr>
      </p:sp>
      <p:sp>
        <p:nvSpPr>
          <p:cNvPr id="6" name="Text 4"/>
          <p:cNvSpPr txBox="1"/>
          <p:nvPr/>
        </p:nvSpPr>
        <p:spPr>
          <a:xfrm>
            <a:off x="6446520" y="1554480"/>
            <a:ext cx="4937760" cy="1965960"/>
          </a:xfrm>
          <a:prstGeom prst="rect">
            <a:avLst/>
          </a:prstGeom>
          <a:noFill/>
          <a:ln/>
        </p:spPr>
        <p:txBody>
          <a:bodyPr wrap="square" lIns="0" tIns="0" rIns="0" bIns="0" rtlCol="0" anchor="t"/>
          <a:lstStyle/>
          <a:p>
            <a:pPr indent="0" marL="0">
              <a:spcAft>
                <a:spcPts val="500"/>
              </a:spcAft>
              <a:buNone/>
            </a:pPr>
            <a:r>
              <a:rPr lang="en-US" sz="1800" b="1" dirty="0">
                <a:solidFill>
                  <a:schemeClr val="accent6"/>
                </a:solidFill>
              </a:rPr>
              <a:t>Needs work: the open world</a:t>
            </a:r>
            <a:endParaRPr lang="en-US" sz="1500" dirty="0"/>
          </a:p>
          <a:p>
            <a:pPr marL="342900" indent="-342900">
              <a:spcAft>
                <a:spcPts val="500"/>
              </a:spcAft>
              <a:buSzPct val="100000"/>
              <a:buChar char="•"/>
            </a:pPr>
            <a:r>
              <a:rPr lang="en-US" sz="1500" dirty="0">
                <a:solidFill>
                  <a:schemeClr val="tx2"/>
                </a:solidFill>
              </a:rPr>
              <a:t>Varied scenes and objects; learned navigation (1/10 alone here)</a:t>
            </a:r>
            <a:endParaRPr lang="en-US" sz="1500" dirty="0"/>
          </a:p>
          <a:p>
            <a:pPr marL="342900" indent="-342900">
              <a:spcAft>
                <a:spcPts val="500"/>
              </a:spcAft>
              <a:buSzPct val="100000"/>
              <a:buChar char="•"/>
            </a:pPr>
            <a:r>
              <a:rPr lang="en-US" sz="1500" dirty="0">
                <a:solidFill>
                  <a:schemeClr val="tx2"/>
                </a:solidFill>
              </a:rPr>
              <a:t>Memory and world models: the policy sees only the current frame</a:t>
            </a:r>
            <a:endParaRPr lang="en-US" sz="1500" dirty="0"/>
          </a:p>
          <a:p>
            <a:pPr marL="342900" indent="-342900">
              <a:spcAft>
                <a:spcPts val="500"/>
              </a:spcAft>
              <a:buSzPct val="100000"/>
              <a:buChar char="•"/>
            </a:pPr>
            <a:r>
              <a:rPr lang="en-US" sz="1500" dirty="0">
                <a:solidFill>
                  <a:schemeClr val="tx2"/>
                </a:solidFill>
              </a:rPr>
              <a:t>Sim-to-real transfer; larger latents (64-D already beat 16-D)</a:t>
            </a:r>
            <a:endParaRPr lang="en-US" sz="1500" dirty="0"/>
          </a:p>
        </p:txBody>
      </p:sp>
      <p:sp>
        <p:nvSpPr>
          <p:cNvPr id="7" name="Text 5"/>
          <p:cNvSpPr txBox="1"/>
          <p:nvPr/>
        </p:nvSpPr>
        <p:spPr>
          <a:xfrm>
            <a:off x="548640" y="3840480"/>
            <a:ext cx="11064240" cy="457200"/>
          </a:xfrm>
          <a:prstGeom prst="rect">
            <a:avLst/>
          </a:prstGeom>
          <a:noFill/>
          <a:ln/>
        </p:spPr>
        <p:txBody>
          <a:bodyPr wrap="square" lIns="0" tIns="0" rIns="0" bIns="0" rtlCol="0" anchor="t"/>
          <a:lstStyle/>
          <a:p>
            <a:pPr indent="0" marL="0">
              <a:buNone/>
            </a:pPr>
            <a:r>
              <a:rPr lang="en-US" sz="1900" b="1" dirty="0">
                <a:solidFill>
                  <a:schemeClr val="tx1"/>
                </a:solidFill>
              </a:rPr>
              <a:t>Next: one Opus that builds its own skills, then uses them</a:t>
            </a:r>
            <a:endParaRPr lang="en-US" sz="1900" dirty="0"/>
          </a:p>
        </p:txBody>
      </p:sp>
      <p:sp>
        <p:nvSpPr>
          <p:cNvPr id="8" name="flow-0"/>
          <p:cNvSpPr/>
          <p:nvPr/>
        </p:nvSpPr>
        <p:spPr>
          <a:xfrm>
            <a:off x="548640" y="4434840"/>
            <a:ext cx="1645920" cy="777240"/>
          </a:xfrm>
          <a:prstGeom prst="roundRect">
            <a:avLst>
              <a:gd name="adj" fmla="val 9412"/>
            </a:avLst>
          </a:prstGeom>
          <a:solidFill>
            <a:schemeClr val="bg2"/>
          </a:solidFill>
          <a:ln w="12700">
            <a:solidFill>
              <a:srgbClr val="C9CFD6"/>
            </a:solidFill>
            <a:prstDash val="solid"/>
          </a:ln>
        </p:spPr>
      </p:sp>
      <p:sp>
        <p:nvSpPr>
          <p:cNvPr id="9" name="Text 7"/>
          <p:cNvSpPr txBox="1"/>
          <p:nvPr/>
        </p:nvSpPr>
        <p:spPr>
          <a:xfrm>
            <a:off x="65836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describe task</a:t>
            </a:r>
            <a:endParaRPr lang="en-US" sz="1300" dirty="0"/>
          </a:p>
        </p:txBody>
      </p:sp>
      <p:sp>
        <p:nvSpPr>
          <p:cNvPr id="10" name="Text 8"/>
          <p:cNvSpPr txBox="1"/>
          <p:nvPr/>
        </p:nvSpPr>
        <p:spPr>
          <a:xfrm>
            <a:off x="2194560" y="4617720"/>
            <a:ext cx="228600" cy="411480"/>
          </a:xfrm>
          <a:prstGeom prst="rect">
            <a:avLst/>
          </a:prstGeom>
          <a:noFill/>
          <a:ln/>
        </p:spPr>
        <p:txBody>
          <a:bodyPr wrap="square" lIns="0" tIns="0" rIns="0" bIns="0" rtlCol="0" anchor="t"/>
          <a:lstStyle/>
          <a:p>
            <a:pPr algn="ctr" indent="0" marL="0">
              <a:buNone/>
            </a:pPr>
            <a:r>
              <a:rPr lang="en-US" sz="1600" dirty="0">
                <a:solidFill>
                  <a:srgbClr val="8A8F98"/>
                </a:solidFill>
              </a:rPr>
              <a:t>→</a:t>
            </a:r>
            <a:endParaRPr lang="en-US" sz="1600" dirty="0"/>
          </a:p>
        </p:txBody>
      </p:sp>
      <p:sp>
        <p:nvSpPr>
          <p:cNvPr id="11" name="flow-1"/>
          <p:cNvSpPr/>
          <p:nvPr/>
        </p:nvSpPr>
        <p:spPr>
          <a:xfrm>
            <a:off x="2423160" y="4434840"/>
            <a:ext cx="1645920" cy="777240"/>
          </a:xfrm>
          <a:prstGeom prst="roundRect">
            <a:avLst>
              <a:gd name="adj" fmla="val 9412"/>
            </a:avLst>
          </a:prstGeom>
          <a:solidFill>
            <a:srgbClr val="F3EEFB"/>
          </a:solidFill>
          <a:ln w="12700">
            <a:solidFill>
              <a:srgbClr val="7A4FB5"/>
            </a:solidFill>
            <a:prstDash val="solid"/>
          </a:ln>
        </p:spPr>
      </p:sp>
      <p:sp>
        <p:nvSpPr>
          <p:cNvPr id="12" name="Text 10"/>
          <p:cNvSpPr txBox="1"/>
          <p:nvPr/>
        </p:nvSpPr>
        <p:spPr>
          <a:xfrm>
            <a:off x="253288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Opus writes the teacher</a:t>
            </a:r>
            <a:endParaRPr lang="en-US" sz="1300" dirty="0"/>
          </a:p>
        </p:txBody>
      </p:sp>
      <p:sp>
        <p:nvSpPr>
          <p:cNvPr id="13" name="Text 11"/>
          <p:cNvSpPr txBox="1"/>
          <p:nvPr/>
        </p:nvSpPr>
        <p:spPr>
          <a:xfrm>
            <a:off x="4069080" y="4617720"/>
            <a:ext cx="228600" cy="411480"/>
          </a:xfrm>
          <a:prstGeom prst="rect">
            <a:avLst/>
          </a:prstGeom>
          <a:noFill/>
          <a:ln/>
        </p:spPr>
        <p:txBody>
          <a:bodyPr wrap="square" lIns="0" tIns="0" rIns="0" bIns="0" rtlCol="0" anchor="t"/>
          <a:lstStyle/>
          <a:p>
            <a:pPr algn="ctr" indent="0" marL="0">
              <a:buNone/>
            </a:pPr>
            <a:r>
              <a:rPr lang="en-US" sz="1600" dirty="0">
                <a:solidFill>
                  <a:srgbClr val="8A8F98"/>
                </a:solidFill>
              </a:rPr>
              <a:t>→</a:t>
            </a:r>
            <a:endParaRPr lang="en-US" sz="1600" dirty="0"/>
          </a:p>
        </p:txBody>
      </p:sp>
      <p:sp>
        <p:nvSpPr>
          <p:cNvPr id="14" name="flow-2"/>
          <p:cNvSpPr/>
          <p:nvPr/>
        </p:nvSpPr>
        <p:spPr>
          <a:xfrm>
            <a:off x="4297680" y="4434840"/>
            <a:ext cx="1645920" cy="777240"/>
          </a:xfrm>
          <a:prstGeom prst="roundRect">
            <a:avLst>
              <a:gd name="adj" fmla="val 9412"/>
            </a:avLst>
          </a:prstGeom>
          <a:solidFill>
            <a:schemeClr val="bg2"/>
          </a:solidFill>
          <a:ln w="12700">
            <a:solidFill>
              <a:srgbClr val="C9CFD6"/>
            </a:solidFill>
            <a:prstDash val="solid"/>
          </a:ln>
        </p:spPr>
      </p:sp>
      <p:sp>
        <p:nvSpPr>
          <p:cNvPr id="15" name="Text 13"/>
          <p:cNvSpPr txBox="1"/>
          <p:nvPr/>
        </p:nvSpPr>
        <p:spPr>
          <a:xfrm>
            <a:off x="440740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collect demos</a:t>
            </a:r>
            <a:endParaRPr lang="en-US" sz="1300" dirty="0"/>
          </a:p>
        </p:txBody>
      </p:sp>
      <p:sp>
        <p:nvSpPr>
          <p:cNvPr id="16" name="Text 14"/>
          <p:cNvSpPr txBox="1"/>
          <p:nvPr/>
        </p:nvSpPr>
        <p:spPr>
          <a:xfrm>
            <a:off x="5943600" y="4617720"/>
            <a:ext cx="228600" cy="411480"/>
          </a:xfrm>
          <a:prstGeom prst="rect">
            <a:avLst/>
          </a:prstGeom>
          <a:noFill/>
          <a:ln/>
        </p:spPr>
        <p:txBody>
          <a:bodyPr wrap="square" lIns="0" tIns="0" rIns="0" bIns="0" rtlCol="0" anchor="t"/>
          <a:lstStyle/>
          <a:p>
            <a:pPr algn="ctr" indent="0" marL="0">
              <a:buNone/>
            </a:pPr>
            <a:r>
              <a:rPr lang="en-US" sz="1600" dirty="0">
                <a:solidFill>
                  <a:srgbClr val="8A8F98"/>
                </a:solidFill>
              </a:rPr>
              <a:t>→</a:t>
            </a:r>
            <a:endParaRPr lang="en-US" sz="1600" dirty="0"/>
          </a:p>
        </p:txBody>
      </p:sp>
      <p:sp>
        <p:nvSpPr>
          <p:cNvPr id="17" name="flow-3"/>
          <p:cNvSpPr/>
          <p:nvPr/>
        </p:nvSpPr>
        <p:spPr>
          <a:xfrm>
            <a:off x="6172200" y="4434840"/>
            <a:ext cx="1645920" cy="777240"/>
          </a:xfrm>
          <a:prstGeom prst="roundRect">
            <a:avLst>
              <a:gd name="adj" fmla="val 9412"/>
            </a:avLst>
          </a:prstGeom>
          <a:solidFill>
            <a:schemeClr val="bg2"/>
          </a:solidFill>
          <a:ln w="12700">
            <a:solidFill>
              <a:srgbClr val="C9CFD6"/>
            </a:solidFill>
            <a:prstDash val="solid"/>
          </a:ln>
        </p:spPr>
      </p:sp>
      <p:sp>
        <p:nvSpPr>
          <p:cNvPr id="18" name="Text 16"/>
          <p:cNvSpPr txBox="1"/>
          <p:nvPr/>
        </p:nvSpPr>
        <p:spPr>
          <a:xfrm>
            <a:off x="628192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train 16-D student</a:t>
            </a:r>
            <a:endParaRPr lang="en-US" sz="1300" dirty="0"/>
          </a:p>
        </p:txBody>
      </p:sp>
      <p:sp>
        <p:nvSpPr>
          <p:cNvPr id="19" name="Text 17"/>
          <p:cNvSpPr txBox="1"/>
          <p:nvPr/>
        </p:nvSpPr>
        <p:spPr>
          <a:xfrm>
            <a:off x="7818120" y="4617720"/>
            <a:ext cx="228600" cy="411480"/>
          </a:xfrm>
          <a:prstGeom prst="rect">
            <a:avLst/>
          </a:prstGeom>
          <a:noFill/>
          <a:ln/>
        </p:spPr>
        <p:txBody>
          <a:bodyPr wrap="square" lIns="0" tIns="0" rIns="0" bIns="0" rtlCol="0" anchor="t"/>
          <a:lstStyle/>
          <a:p>
            <a:pPr algn="ctr" indent="0" marL="0">
              <a:buNone/>
            </a:pPr>
            <a:r>
              <a:rPr lang="en-US" sz="1600" dirty="0">
                <a:solidFill>
                  <a:srgbClr val="8A8F98"/>
                </a:solidFill>
              </a:rPr>
              <a:t>→</a:t>
            </a:r>
            <a:endParaRPr lang="en-US" sz="1600" dirty="0"/>
          </a:p>
        </p:txBody>
      </p:sp>
      <p:sp>
        <p:nvSpPr>
          <p:cNvPr id="20" name="flow-4"/>
          <p:cNvSpPr/>
          <p:nvPr/>
        </p:nvSpPr>
        <p:spPr>
          <a:xfrm>
            <a:off x="8046720" y="4434840"/>
            <a:ext cx="1645920" cy="777240"/>
          </a:xfrm>
          <a:prstGeom prst="roundRect">
            <a:avLst>
              <a:gd name="adj" fmla="val 9412"/>
            </a:avLst>
          </a:prstGeom>
          <a:solidFill>
            <a:schemeClr val="bg2"/>
          </a:solidFill>
          <a:ln w="12700">
            <a:solidFill>
              <a:srgbClr val="C9CFD6"/>
            </a:solidFill>
            <a:prstDash val="solid"/>
          </a:ln>
        </p:spPr>
      </p:sp>
      <p:sp>
        <p:nvSpPr>
          <p:cNvPr id="21" name="Text 19"/>
          <p:cNvSpPr txBox="1"/>
          <p:nvPr/>
        </p:nvSpPr>
        <p:spPr>
          <a:xfrm>
            <a:off x="815644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verify in physics</a:t>
            </a:r>
            <a:endParaRPr lang="en-US" sz="1300" dirty="0"/>
          </a:p>
        </p:txBody>
      </p:sp>
      <p:sp>
        <p:nvSpPr>
          <p:cNvPr id="22" name="Text 20"/>
          <p:cNvSpPr txBox="1"/>
          <p:nvPr/>
        </p:nvSpPr>
        <p:spPr>
          <a:xfrm>
            <a:off x="9692640" y="4617720"/>
            <a:ext cx="228600" cy="411480"/>
          </a:xfrm>
          <a:prstGeom prst="rect">
            <a:avLst/>
          </a:prstGeom>
          <a:noFill/>
          <a:ln/>
        </p:spPr>
        <p:txBody>
          <a:bodyPr wrap="square" lIns="0" tIns="0" rIns="0" bIns="0" rtlCol="0" anchor="t"/>
          <a:lstStyle/>
          <a:p>
            <a:pPr algn="ctr" indent="0" marL="0">
              <a:buNone/>
            </a:pPr>
            <a:r>
              <a:rPr lang="en-US" sz="1600" dirty="0">
                <a:solidFill>
                  <a:srgbClr val="8A8F98"/>
                </a:solidFill>
              </a:rPr>
              <a:t>→</a:t>
            </a:r>
            <a:endParaRPr lang="en-US" sz="1600" dirty="0"/>
          </a:p>
        </p:txBody>
      </p:sp>
      <p:sp>
        <p:nvSpPr>
          <p:cNvPr id="23" name="flow-5"/>
          <p:cNvSpPr/>
          <p:nvPr/>
        </p:nvSpPr>
        <p:spPr>
          <a:xfrm>
            <a:off x="9921240" y="4434840"/>
            <a:ext cx="1645920" cy="777240"/>
          </a:xfrm>
          <a:prstGeom prst="roundRect">
            <a:avLst>
              <a:gd name="adj" fmla="val 9412"/>
            </a:avLst>
          </a:prstGeom>
          <a:solidFill>
            <a:schemeClr val="bg2"/>
          </a:solidFill>
          <a:ln w="12700">
            <a:solidFill>
              <a:srgbClr val="C9CFD6"/>
            </a:solidFill>
            <a:prstDash val="solid"/>
          </a:ln>
        </p:spPr>
      </p:sp>
      <p:sp>
        <p:nvSpPr>
          <p:cNvPr id="24" name="Text 22"/>
          <p:cNvSpPr txBox="1"/>
          <p:nvPr/>
        </p:nvSpPr>
        <p:spPr>
          <a:xfrm>
            <a:off x="10030968" y="4434840"/>
            <a:ext cx="1426464" cy="777240"/>
          </a:xfrm>
          <a:prstGeom prst="rect">
            <a:avLst/>
          </a:prstGeom>
          <a:noFill/>
          <a:ln/>
        </p:spPr>
        <p:txBody>
          <a:bodyPr wrap="square" lIns="0" tIns="0" rIns="0" bIns="0" rtlCol="0" anchor="ctr"/>
          <a:lstStyle/>
          <a:p>
            <a:pPr algn="ctr" indent="0" marL="0">
              <a:buNone/>
            </a:pPr>
            <a:r>
              <a:rPr lang="en-US" sz="1300" dirty="0">
                <a:solidFill>
                  <a:schemeClr val="tx1"/>
                </a:solidFill>
              </a:rPr>
              <a:t>add to toolbox, operate</a:t>
            </a:r>
            <a:endParaRPr lang="en-US" sz="1300" dirty="0"/>
          </a:p>
        </p:txBody>
      </p:sp>
      <p:sp>
        <p:nvSpPr>
          <p:cNvPr id="25" name="Text 23"/>
          <p:cNvSpPr txBox="1"/>
          <p:nvPr/>
        </p:nvSpPr>
        <p:spPr>
          <a:xfrm>
            <a:off x="548640" y="5440680"/>
            <a:ext cx="11064240" cy="914400"/>
          </a:xfrm>
          <a:prstGeom prst="rect">
            <a:avLst/>
          </a:prstGeom>
          <a:noFill/>
          <a:ln/>
        </p:spPr>
        <p:txBody>
          <a:bodyPr wrap="square" lIns="0" tIns="0" rIns="0" bIns="0" rtlCol="0" anchor="t"/>
          <a:lstStyle/>
          <a:p>
            <a:pPr indent="0" marL="0">
              <a:buNone/>
            </a:pPr>
            <a:r>
              <a:rPr lang="en-US" sz="1300" dirty="0">
                <a:solidFill>
                  <a:srgbClr val="6B7280"/>
                </a:solidFill>
              </a:rPr>
              <a:t>Today these are two separate Opus roles: an engineer (a coding assistant that wrote the teacher, simulator and training code with the author) and an operator (calls skills at run time). The deployed system does not write its own teachers yet; merging the two roles is the next step, with a human still checking each new skill.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tx1"/>
                </a:solidFill>
              </a:rPr>
              <a:t>Limitations</a:t>
            </a:r>
            <a:endParaRPr lang="en-US" sz="3200" dirty="0"/>
          </a:p>
        </p:txBody>
      </p:sp>
      <p:sp>
        <p:nvSpPr>
          <p:cNvPr id="3" name="lim-0"/>
          <p:cNvSpPr/>
          <p:nvPr/>
        </p:nvSpPr>
        <p:spPr>
          <a:xfrm>
            <a:off x="548640" y="1554480"/>
            <a:ext cx="5440680" cy="1737360"/>
          </a:xfrm>
          <a:prstGeom prst="roundRect">
            <a:avLst>
              <a:gd name="adj" fmla="val 4211"/>
            </a:avLst>
          </a:prstGeom>
          <a:solidFill>
            <a:schemeClr val="bg2"/>
          </a:solidFill>
          <a:ln/>
        </p:spPr>
      </p:sp>
      <p:sp>
        <p:nvSpPr>
          <p:cNvPr id="4" name="Text 2"/>
          <p:cNvSpPr txBox="1"/>
          <p:nvPr/>
        </p:nvSpPr>
        <p:spPr>
          <a:xfrm>
            <a:off x="822960" y="1828800"/>
            <a:ext cx="4937760" cy="457200"/>
          </a:xfrm>
          <a:prstGeom prst="rect">
            <a:avLst/>
          </a:prstGeom>
          <a:noFill/>
          <a:ln/>
        </p:spPr>
        <p:txBody>
          <a:bodyPr wrap="square" lIns="0" tIns="0" rIns="0" bIns="0" rtlCol="0" anchor="t"/>
          <a:lstStyle/>
          <a:p>
            <a:pPr indent="0" marL="0">
              <a:buNone/>
            </a:pPr>
            <a:r>
              <a:rPr lang="en-US" sz="1900" b="1" dirty="0">
                <a:solidFill>
                  <a:schemeClr val="tx1"/>
                </a:solidFill>
              </a:rPr>
              <a:t>Simulation only</a:t>
            </a:r>
            <a:endParaRPr lang="en-US" sz="1900" dirty="0"/>
          </a:p>
        </p:txBody>
      </p:sp>
      <p:sp>
        <p:nvSpPr>
          <p:cNvPr id="5" name="Text 3"/>
          <p:cNvSpPr txBox="1"/>
          <p:nvPr/>
        </p:nvSpPr>
        <p:spPr>
          <a:xfrm>
            <a:off x="822960" y="2377440"/>
            <a:ext cx="4937760" cy="731520"/>
          </a:xfrm>
          <a:prstGeom prst="rect">
            <a:avLst/>
          </a:prstGeom>
          <a:noFill/>
          <a:ln/>
        </p:spPr>
        <p:txBody>
          <a:bodyPr wrap="square" lIns="0" tIns="0" rIns="0" bIns="0" rtlCol="0" anchor="t"/>
          <a:lstStyle/>
          <a:p>
            <a:pPr indent="0" marL="0">
              <a:buNone/>
            </a:pPr>
            <a:r>
              <a:rPr lang="en-US" sz="1600" dirty="0">
                <a:solidFill>
                  <a:schemeClr val="tx2"/>
                </a:solidFill>
              </a:rPr>
              <a:t>holonomic base model, one fixed arena, nearly fixed object positions</a:t>
            </a:r>
            <a:endParaRPr lang="en-US" sz="1600" dirty="0"/>
          </a:p>
        </p:txBody>
      </p:sp>
      <p:sp>
        <p:nvSpPr>
          <p:cNvPr id="6" name="lim-1"/>
          <p:cNvSpPr/>
          <p:nvPr/>
        </p:nvSpPr>
        <p:spPr>
          <a:xfrm>
            <a:off x="6172200" y="1554480"/>
            <a:ext cx="5440680" cy="1737360"/>
          </a:xfrm>
          <a:prstGeom prst="roundRect">
            <a:avLst>
              <a:gd name="adj" fmla="val 4211"/>
            </a:avLst>
          </a:prstGeom>
          <a:solidFill>
            <a:schemeClr val="bg2"/>
          </a:solidFill>
          <a:ln/>
        </p:spPr>
      </p:sp>
      <p:sp>
        <p:nvSpPr>
          <p:cNvPr id="7" name="Text 5"/>
          <p:cNvSpPr txBox="1"/>
          <p:nvPr/>
        </p:nvSpPr>
        <p:spPr>
          <a:xfrm>
            <a:off x="6446520" y="1828800"/>
            <a:ext cx="4937760" cy="457200"/>
          </a:xfrm>
          <a:prstGeom prst="rect">
            <a:avLst/>
          </a:prstGeom>
          <a:noFill/>
          <a:ln/>
        </p:spPr>
        <p:txBody>
          <a:bodyPr wrap="square" lIns="0" tIns="0" rIns="0" bIns="0" rtlCol="0" anchor="t"/>
          <a:lstStyle/>
          <a:p>
            <a:pPr indent="0" marL="0">
              <a:buNone/>
            </a:pPr>
            <a:r>
              <a:rPr lang="en-US" sz="1900" b="1" dirty="0">
                <a:solidFill>
                  <a:schemeClr val="tx1"/>
                </a:solidFill>
              </a:rPr>
              <a:t>Small evaluations</a:t>
            </a:r>
            <a:endParaRPr lang="en-US" sz="1900" dirty="0"/>
          </a:p>
        </p:txBody>
      </p:sp>
      <p:sp>
        <p:nvSpPr>
          <p:cNvPr id="8" name="Text 6"/>
          <p:cNvSpPr txBox="1"/>
          <p:nvPr/>
        </p:nvSpPr>
        <p:spPr>
          <a:xfrm>
            <a:off x="6446520" y="2377440"/>
            <a:ext cx="4937760" cy="731520"/>
          </a:xfrm>
          <a:prstGeom prst="rect">
            <a:avLst/>
          </a:prstGeom>
          <a:noFill/>
          <a:ln/>
        </p:spPr>
        <p:txBody>
          <a:bodyPr wrap="square" lIns="0" tIns="0" rIns="0" bIns="0" rtlCol="0" anchor="t"/>
          <a:lstStyle/>
          <a:p>
            <a:pPr indent="0" marL="0">
              <a:buNone/>
            </a:pPr>
            <a:r>
              <a:rPr lang="en-US" sz="1600" dirty="0">
                <a:solidFill>
                  <a:schemeClr val="tx2"/>
                </a:solidFill>
              </a:rPr>
              <a:t>8–20 closed-loop trials per condition; wide confidence intervals</a:t>
            </a:r>
            <a:endParaRPr lang="en-US" sz="1600" dirty="0"/>
          </a:p>
        </p:txBody>
      </p:sp>
      <p:sp>
        <p:nvSpPr>
          <p:cNvPr id="9" name="lim-2"/>
          <p:cNvSpPr/>
          <p:nvPr/>
        </p:nvSpPr>
        <p:spPr>
          <a:xfrm>
            <a:off x="548640" y="3657600"/>
            <a:ext cx="5440680" cy="1737360"/>
          </a:xfrm>
          <a:prstGeom prst="roundRect">
            <a:avLst>
              <a:gd name="adj" fmla="val 4211"/>
            </a:avLst>
          </a:prstGeom>
          <a:solidFill>
            <a:schemeClr val="bg2"/>
          </a:solidFill>
          <a:ln/>
        </p:spPr>
      </p:sp>
      <p:sp>
        <p:nvSpPr>
          <p:cNvPr id="10" name="Text 8"/>
          <p:cNvSpPr txBox="1"/>
          <p:nvPr/>
        </p:nvSpPr>
        <p:spPr>
          <a:xfrm>
            <a:off x="822960" y="3931920"/>
            <a:ext cx="4937760" cy="457200"/>
          </a:xfrm>
          <a:prstGeom prst="rect">
            <a:avLst/>
          </a:prstGeom>
          <a:noFill/>
          <a:ln/>
        </p:spPr>
        <p:txBody>
          <a:bodyPr wrap="square" lIns="0" tIns="0" rIns="0" bIns="0" rtlCol="0" anchor="t"/>
          <a:lstStyle/>
          <a:p>
            <a:pPr indent="0" marL="0">
              <a:buNone/>
            </a:pPr>
            <a:r>
              <a:rPr lang="en-US" sz="1900" b="1" dirty="0">
                <a:solidFill>
                  <a:schemeClr val="tx1"/>
                </a:solidFill>
              </a:rPr>
              <a:t>Navigation not learned</a:t>
            </a:r>
            <a:endParaRPr lang="en-US" sz="1900" dirty="0"/>
          </a:p>
        </p:txBody>
      </p:sp>
      <p:sp>
        <p:nvSpPr>
          <p:cNvPr id="11" name="Text 9"/>
          <p:cNvSpPr txBox="1"/>
          <p:nvPr/>
        </p:nvSpPr>
        <p:spPr>
          <a:xfrm>
            <a:off x="822960" y="4480560"/>
            <a:ext cx="4937760" cy="731520"/>
          </a:xfrm>
          <a:prstGeom prst="rect">
            <a:avLst/>
          </a:prstGeom>
          <a:noFill/>
          <a:ln/>
        </p:spPr>
        <p:txBody>
          <a:bodyPr wrap="square" lIns="0" tIns="0" rIns="0" bIns="0" rtlCol="0" anchor="t"/>
          <a:lstStyle/>
          <a:p>
            <a:pPr indent="0" marL="0">
              <a:buNone/>
            </a:pPr>
            <a:r>
              <a:rPr lang="en-US" sz="1600" dirty="0">
                <a:solidFill>
                  <a:schemeClr val="tx2"/>
                </a:solidFill>
              </a:rPr>
              <a:t>learned goto: 34/36 with help, 1/10 alone; replaced by a planner</a:t>
            </a:r>
            <a:endParaRPr lang="en-US" sz="1600" dirty="0"/>
          </a:p>
        </p:txBody>
      </p:sp>
      <p:sp>
        <p:nvSpPr>
          <p:cNvPr id="12" name="lim-3"/>
          <p:cNvSpPr/>
          <p:nvPr/>
        </p:nvSpPr>
        <p:spPr>
          <a:xfrm>
            <a:off x="6172200" y="3657600"/>
            <a:ext cx="5440680" cy="1737360"/>
          </a:xfrm>
          <a:prstGeom prst="roundRect">
            <a:avLst>
              <a:gd name="adj" fmla="val 4211"/>
            </a:avLst>
          </a:prstGeom>
          <a:solidFill>
            <a:schemeClr val="bg2"/>
          </a:solidFill>
          <a:ln/>
        </p:spPr>
      </p:sp>
      <p:sp>
        <p:nvSpPr>
          <p:cNvPr id="13" name="Text 11"/>
          <p:cNvSpPr txBox="1"/>
          <p:nvPr/>
        </p:nvSpPr>
        <p:spPr>
          <a:xfrm>
            <a:off x="6446520" y="3931920"/>
            <a:ext cx="4937760" cy="457200"/>
          </a:xfrm>
          <a:prstGeom prst="rect">
            <a:avLst/>
          </a:prstGeom>
          <a:noFill/>
          <a:ln/>
        </p:spPr>
        <p:txBody>
          <a:bodyPr wrap="square" lIns="0" tIns="0" rIns="0" bIns="0" rtlCol="0" anchor="t"/>
          <a:lstStyle/>
          <a:p>
            <a:pPr indent="0" marL="0">
              <a:buNone/>
            </a:pPr>
            <a:r>
              <a:rPr lang="en-US" sz="1900" b="1" dirty="0">
                <a:solidFill>
                  <a:schemeClr val="tx1"/>
                </a:solidFill>
              </a:rPr>
              <a:t>Offline ablations</a:t>
            </a:r>
            <a:endParaRPr lang="en-US" sz="1900" dirty="0"/>
          </a:p>
        </p:txBody>
      </p:sp>
      <p:sp>
        <p:nvSpPr>
          <p:cNvPr id="14" name="Text 12"/>
          <p:cNvSpPr txBox="1"/>
          <p:nvPr/>
        </p:nvSpPr>
        <p:spPr>
          <a:xfrm>
            <a:off x="6446520" y="4480560"/>
            <a:ext cx="4937760" cy="731520"/>
          </a:xfrm>
          <a:prstGeom prst="rect">
            <a:avLst/>
          </a:prstGeom>
          <a:noFill/>
          <a:ln/>
        </p:spPr>
        <p:txBody>
          <a:bodyPr wrap="square" lIns="0" tIns="0" rIns="0" bIns="0" rtlCol="0" anchor="t"/>
          <a:lstStyle/>
          <a:p>
            <a:pPr indent="0" marL="0">
              <a:buNone/>
            </a:pPr>
            <a:r>
              <a:rPr lang="en-US" sz="1600" dirty="0">
                <a:solidFill>
                  <a:schemeClr val="tx2"/>
                </a:solidFill>
              </a:rPr>
              <a:t>single training budget, three seeds; no closed-loop ablation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766560" cy="1737360"/>
          </a:xfrm>
          <a:prstGeom prst="rect">
            <a:avLst/>
          </a:prstGeom>
          <a:noFill/>
          <a:ln/>
        </p:spPr>
        <p:txBody>
          <a:bodyPr wrap="square" rtlCol="0" anchor="b"/>
          <a:lstStyle/>
          <a:p>
            <a:pPr algn="l" indent="0" marL="0">
              <a:buNone/>
            </a:pPr>
            <a:r>
              <a:rPr lang="en-US" sz="4000" b="1" dirty="0">
                <a:solidFill>
                  <a:schemeClr val="bg1"/>
                </a:solidFill>
              </a:rPr>
              <a:t>Small eyes, big planner</a:t>
            </a:r>
            <a:endParaRPr lang="en-US" sz="4000" dirty="0"/>
          </a:p>
        </p:txBody>
      </p:sp>
      <p:sp>
        <p:nvSpPr>
          <p:cNvPr id="3" name="Text 0"/>
          <p:cNvSpPr/>
          <p:nvPr>
            <p:ph idx="101" type="body" hasCustomPrompt="1"/>
          </p:nvPr>
        </p:nvSpPr>
        <p:spPr>
          <a:xfrm>
            <a:off x="640080" y="3977640"/>
            <a:ext cx="6583680" cy="1463040"/>
          </a:xfrm>
          <a:prstGeom prst="rect">
            <a:avLst/>
          </a:prstGeom>
          <a:noFill/>
          <a:ln/>
        </p:spPr>
        <p:txBody>
          <a:bodyPr wrap="square" rtlCol="0" anchor="t"/>
          <a:lstStyle/>
          <a:p>
            <a:pPr marL="342900" indent="-342900">
              <a:spcAft>
                <a:spcPts val="600"/>
              </a:spcAft>
              <a:buSzPct val="100000"/>
              <a:buChar char="•"/>
            </a:pPr>
            <a:r>
              <a:rPr lang="en-US" sz="1800" dirty="0">
                <a:solidFill>
                  <a:srgbClr val="C9CFD6"/>
                </a:solidFill>
              </a:rPr>
              <a:t>16 numbers capture the task's structure and drive a camera-only pick 14/20 times</a:t>
            </a:r>
            <a:endParaRPr lang="en-US" sz="1800" dirty="0"/>
          </a:p>
          <a:p>
            <a:pPr marL="342900" indent="-342900">
              <a:spcAft>
                <a:spcPts val="600"/>
              </a:spcAft>
              <a:buSzPct val="100000"/>
              <a:buChar char="•"/>
            </a:pPr>
            <a:r>
              <a:rPr lang="en-US" sz="1800" dirty="0">
                <a:solidFill>
                  <a:srgbClr val="C9CFD6"/>
                </a:solidFill>
              </a:rPr>
              <a:t>Experts specialise by skill on their own</a:t>
            </a:r>
            <a:endParaRPr lang="en-US" sz="1800" dirty="0"/>
          </a:p>
          <a:p>
            <a:pPr marL="342900" indent="-342900">
              <a:spcAft>
                <a:spcPts val="600"/>
              </a:spcAft>
              <a:buSzPct val="100000"/>
              <a:buChar char="•"/>
            </a:pPr>
            <a:r>
              <a:rPr lang="en-US" sz="1800" dirty="0">
                <a:solidFill>
                  <a:srgbClr val="C9CFD6"/>
                </a:solidFill>
              </a:rPr>
              <a:t>Complete tasks need a hierarchy at this size: a VLM that programs, verifies and retries</a:t>
            </a:r>
            <a:endParaRPr lang="en-US" sz="1800" dirty="0"/>
          </a:p>
          <a:p>
            <a:pPr marL="342900" indent="-342900">
              <a:spcAft>
                <a:spcPts val="600"/>
              </a:spcAft>
              <a:buSzPct val="100000"/>
              <a:buChar char="•"/>
            </a:pPr>
            <a:r>
              <a:rPr lang="en-US" sz="1800" dirty="0">
                <a:solidFill>
                  <a:srgbClr val="C9CFD6"/>
                </a:solidFill>
              </a:rPr>
              <a:t>Deployment test: Opus alone picks 0/6, with the 16-D skill 4/6</a:t>
            </a:r>
            <a:endParaRPr lang="en-US" sz="1800" dirty="0"/>
          </a:p>
          <a:p>
            <a:pPr marL="342900" indent="-342900">
              <a:spcAft>
                <a:spcPts val="600"/>
              </a:spcAft>
              <a:buSzPct val="100000"/>
              <a:buChar char="•"/>
            </a:pPr>
            <a:r>
              <a:rPr lang="en-US" sz="1800" dirty="0">
                <a:solidFill>
                  <a:srgbClr val="C9CFD6"/>
                </a:solidFill>
              </a:rPr>
              <a:t>Check the cameras before blaming the model</a:t>
            </a:r>
            <a:endParaRPr lang="en-US" sz="1800" dirty="0"/>
          </a:p>
        </p:txBody>
      </p:sp>
      <p:pic>
        <p:nvPicPr>
          <p:cNvPr id="3" name="best-run-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589520" y="2011680"/>
            <a:ext cx="4114800" cy="2313432"/>
          </a:xfrm>
          <a:prstGeom prst="rect">
            <a:avLst/>
          </a:prstGeom>
        </p:spPr>
      </p:pic>
      <p:sp>
        <p:nvSpPr>
          <p:cNvPr id="5" name="Text 2"/>
          <p:cNvSpPr txBox="1"/>
          <p:nvPr/>
        </p:nvSpPr>
        <p:spPr>
          <a:xfrm>
            <a:off x="7589520" y="4434840"/>
            <a:ext cx="4114800" cy="640080"/>
          </a:xfrm>
          <a:prstGeom prst="rect">
            <a:avLst/>
          </a:prstGeom>
          <a:noFill/>
          <a:ln/>
        </p:spPr>
        <p:txBody>
          <a:bodyPr wrap="square" lIns="0" tIns="0" rIns="0" bIns="0" rtlCol="0" anchor="t"/>
          <a:lstStyle/>
          <a:p>
            <a:pPr indent="0" marL="0">
              <a:buNone/>
            </a:pPr>
            <a:r>
              <a:rPr lang="en-US" sz="1300" dirty="0">
                <a:solidFill>
                  <a:srgbClr val="8A9099"/>
                </a:solidFill>
              </a:rPr>
              <a:t>Best recorded run: two deliveries by the learned pick and drop skills (real time)</a:t>
            </a:r>
            <a:endParaRPr lang="en-US" sz="1300" dirty="0"/>
          </a:p>
        </p:txBody>
      </p:sp>
    </p:spTree>
  </p:cSld>
  <p:clrMapOvr>
    <a:masterClrMapping/>
  </p:clrMapOvr>
</p:sld>
</file>

<file path=ppt/theme/theme1.xml><?xml version="1.0" encoding="utf-8"?>
<a:theme xmlns:a="http://schemas.openxmlformats.org/drawingml/2006/main" name="Latent Vision">
  <a:themeElements>
    <a:clrScheme name="Latent Vision">
      <a:dk1>
        <a:srgbClr val="1B1F24"/>
      </a:dk1>
      <a:lt1>
        <a:srgbClr val="FFFFFF"/>
      </a:lt1>
      <a:dk2>
        <a:srgbClr val="2B3138"/>
      </a:dk2>
      <a:lt2>
        <a:srgbClr val="EEF1F4"/>
      </a:lt2>
      <a:accent1>
        <a:srgbClr val="E07B28"/>
      </a:accent1>
      <a:accent2>
        <a:srgbClr val="2F6DB5"/>
      </a:accent2>
      <a:accent3>
        <a:srgbClr val="3A9A5B"/>
      </a:accent3>
      <a:accent4>
        <a:srgbClr val="7A4FB5"/>
      </a:accent4>
      <a:accent5>
        <a:srgbClr val="8A8F98"/>
      </a:accent5>
      <a:accent6>
        <a:srgbClr val="C4483E"/>
      </a:accent6>
      <a:hlink>
        <a:srgbClr val="2F6DB5"/>
      </a:hlink>
      <a:folHlink>
        <a:srgbClr val="7A4FB5"/>
      </a:folHlink>
    </a:clrScheme>
    <a:fontScheme name="Latent 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Small Can a Robot's Eyes Be?</dc:title>
  <dc:subject>PptxGenJS Presentation</dc:subject>
  <dc:creator>PptxGenJS</dc:creator>
  <cp:lastModifiedBy>PptxGenJS</cp:lastModifiedBy>
  <cp:revision>1</cp:revision>
  <dcterms:created xsi:type="dcterms:W3CDTF">2026-10-26T10:16:56Z</dcterms:created>
  <dcterms:modified xsi:type="dcterms:W3CDTF">2026-10-26T10:16:56Z</dcterms:modified>
</cp:coreProperties>
</file>